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8" r:id="rId11"/>
    <p:sldId id="267"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46" d="100"/>
          <a:sy n="46" d="100"/>
        </p:scale>
        <p:origin x="200" y="18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79231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MCP server that manufactures MCP servers.
When an agent hits an app with no API it can use, it calls apic. A computer-use agent operates the UI, verifies what actually changed, and hands back typed tools - then repairs them when the UI moves.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am Ben, I am seventeen, still at school, and I work part-time as an AI engineer at an IT consultancy called 4C. This is a solo entry and everything here was built today.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version of this everybody in this room has lived. You want a burger. You know roughly what you want. And you are three menus deep on Deliveroo, scrolling, because there is no way to just ask.
So ask an agent instead. It cannot help you - Deliveroo has no public consumer API. Nor does your council planning portal, nor whatever your finance team logged into this morning. A site that renders a page for a human and offers nothing else is a wall to everything that is not one, and that is most of the web an agent would actually want to use.
apic compiled it anyway, off the screen - and because it is someone else’s site, the read path is read-only by construction: one request a second, cookies declined, no login, no basket, no checkout, and it stops dead on a challenge page.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part I would most like you to take away, because it is what separates apic from the tools you already know.
An interpreter works out what to do every time the program runs. A compiler works it out once and writes the answer down. Same result - the expensive thinking just happens at a different time.
Apify’s AI Web Scraper is the commercial version of the interpreter: you give it a URL and plain English, and it re-runs the model on every call, and what you get back is data, this once. Playwright MCP is the same shape inside your editor - it makes your coding agent the interpreter, spending its context on snapshots and its turns on clicks.
apic does the reasoning once and hands back a typed interface that keeps working.
And the fair objection, before anyone raises it: Apify’s MCP server does auto-generate typed per-app tools. But it generates them from Actor input schemas that a human wrote. The wrapper is automatic; the contract is hand-authored. apic derives the contract itself, by operating the software.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measured, from a harness in the repo that runs the same action both ways.
Six model round-trips become zero. Sixteen thousand tokens become zero. Not fewer - none, because there is no model left in the path.
And I want to be careful about what I am not claiming. The wall-clock gap swung between one-point-three and nine-point-four times across runs, because on localhost the browser dominates both lanes, so I am not going to sell you a speed multiple. The zero is the structural claim, and it stays zero as you run the action more, while the interpreted column scales linearly.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apic first tries to read every control from its label alone - "New project" is obviously a create. Anything it cannot read is what h gets: a screenshot of the page and the list of leftovers. On Vikunja it was shown three leftovers and correctly named one, an icon-only Kanban control recovered from its pencil icon.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 app showed a "project created" banner, that is the answer and no screenshot is sent. The pictures are spent on the ambiguous cases - a card that moved column, a row that reordered. The moment worth knowing: on ParaBank, a 2005 banking site it had never seen, it threw out all five candidate tools as cosmetic, and it was right - those loan submissions had returned error pages. One real tool shipped instead of five fake ones.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stops the compiler being a Vikunja tool. apic knows task, project and label because that is what it was built against. Point it at Gitea and Tavily goes and finds Gitea’s own docs, and the tools come out named after issues and repositories instead. New vocabulary is added, never substituted, and it is cached per host so the second compile of an app is free.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part I am most pleased with. Nobody labelled a dataset. apic replayed each of its own tools six times, wrote down what the page did, and we made harder examples from that - the same page with the success message deleted, the typed value showing only in the box it was typed into. The test set holds back two entire tools the model has never seen, so the score is about new tools, not remembered ones. It ended up more accurate and six times faster than the frontier model, and it was never once wrong when it said yes.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last thing, and it is the reason this is useful rather than clever.
apic is a plain MCP server over stdio. There is no apic app, no dashboard, no account to sign up for. It goes wherever MCP goes - Claude Code, Claude Desktop, Codex, Cursor, VS Code. One line and the tools are in whatever you already have open.
Being straight with you: I have installed and run it in Claude Code and Claude Desktop. The other three are the config format each of those clients documents - I have not personally tested them on this machine, and the site says so too.
And the generated bundle is committed to the repo. Machine-written code, machine-verified, with tests the agent wrote. You can read all of it.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NOTE - what to capture:
Screen recording of Claude with the apic connector installed. Type the question, let the two tool calls run, let the answer come back. Keep it under about forty seconds; trim the waiting.
Things worth having in frame: the tool calls appearing by name (searchResults, then listBurgers), and the answer naming a real restaurant and a real burger.
VOICEOVER over the clip: this is the whole thing in use. One sentence, in the chat I am already in. It works out it needs to search, then it works out it needs the menu, and it answers. The two tools it used were compiled off Deliveroo’s own pages - nobody wrote them, and there is no API key anywhere in this.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509"/>
        </a:solidFill>
        <a:effectLst/>
      </p:bgPr>
    </p:bg>
    <p:spTree>
      <p:nvGrpSpPr>
        <p:cNvPr id="1" name=""/>
        <p:cNvGrpSpPr/>
        <p:nvPr/>
      </p:nvGrpSpPr>
      <p:grpSpPr>
        <a:xfrm>
          <a:off x="0" y="0"/>
          <a:ext cx="0" cy="0"/>
          <a:chOff x="0" y="0"/>
          <a:chExt cx="0" cy="0"/>
        </a:xfrm>
      </p:grpSpPr>
      <p:pic>
        <p:nvPicPr>
          <p:cNvPr id="2" name="Image 0" descr="/Users/brwbo/Projects/apic/slides/apic-title.png"/>
          <p:cNvPicPr>
            <a:picLocks noChangeAspect="1"/>
          </p:cNvPicPr>
          <p:nvPr/>
        </p:nvPicPr>
        <p:blipFill>
          <a:blip r:embed="rId3"/>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509"/>
        </a:solidFill>
        <a:effectLst/>
      </p:bgPr>
    </p:bg>
    <p:spTree>
      <p:nvGrpSpPr>
        <p:cNvPr id="1" name=""/>
        <p:cNvGrpSpPr/>
        <p:nvPr/>
      </p:nvGrpSpPr>
      <p:grpSpPr>
        <a:xfrm>
          <a:off x="0" y="0"/>
          <a:ext cx="0" cy="0"/>
          <a:chOff x="0" y="0"/>
          <a:chExt cx="0" cy="0"/>
        </a:xfrm>
      </p:grpSpPr>
      <p:pic>
        <p:nvPicPr>
          <p:cNvPr id="2" name="Image 0" descr="/Users/brwbo/Projects/apic/ui/public/ben.jpg"/>
          <p:cNvPicPr>
            <a:picLocks noChangeAspect="1"/>
          </p:cNvPicPr>
          <p:nvPr/>
        </p:nvPicPr>
        <p:blipFill>
          <a:blip r:embed="rId3"/>
          <a:stretch>
            <a:fillRect/>
          </a:stretch>
        </p:blipFill>
        <p:spPr>
          <a:xfrm>
            <a:off x="822960" y="1234440"/>
            <a:ext cx="3200400" cy="3913632"/>
          </a:xfrm>
          <a:prstGeom prst="ellipse">
            <a:avLst/>
          </a:prstGeom>
        </p:spPr>
      </p:pic>
      <p:sp>
        <p:nvSpPr>
          <p:cNvPr id="3" name="Text 0"/>
          <p:cNvSpPr/>
          <p:nvPr/>
        </p:nvSpPr>
        <p:spPr>
          <a:xfrm>
            <a:off x="4572000" y="1371600"/>
            <a:ext cx="6766560" cy="822960"/>
          </a:xfrm>
          <a:prstGeom prst="rect">
            <a:avLst/>
          </a:prstGeom>
          <a:noFill/>
          <a:ln/>
        </p:spPr>
        <p:txBody>
          <a:bodyPr wrap="square" rtlCol="0" anchor="ctr"/>
          <a:lstStyle/>
          <a:p>
            <a:pPr marL="0" indent="0">
              <a:buNone/>
            </a:pPr>
            <a:r>
              <a:rPr lang="en-US" sz="4400" b="1" kern="0" spc="-100" dirty="0">
                <a:solidFill>
                  <a:srgbClr val="FFFFFF"/>
                </a:solidFill>
                <a:latin typeface="Arial" pitchFamily="34" charset="0"/>
                <a:ea typeface="Arial" pitchFamily="34" charset="-122"/>
                <a:cs typeface="Arial" pitchFamily="34" charset="-120"/>
              </a:rPr>
              <a:t>Ben Rowbotham</a:t>
            </a:r>
            <a:endParaRPr lang="en-US" sz="4400" dirty="0"/>
          </a:p>
        </p:txBody>
      </p:sp>
      <p:sp>
        <p:nvSpPr>
          <p:cNvPr id="4" name="Text 1"/>
          <p:cNvSpPr/>
          <p:nvPr/>
        </p:nvSpPr>
        <p:spPr>
          <a:xfrm>
            <a:off x="4572000" y="2240280"/>
            <a:ext cx="6766560" cy="457200"/>
          </a:xfrm>
          <a:prstGeom prst="rect">
            <a:avLst/>
          </a:prstGeom>
          <a:noFill/>
          <a:ln/>
        </p:spPr>
        <p:txBody>
          <a:bodyPr wrap="square" rtlCol="0" anchor="ctr"/>
          <a:lstStyle/>
          <a:p>
            <a:pPr marL="0" indent="0">
              <a:buNone/>
            </a:pPr>
            <a:r>
              <a:rPr lang="en-US" sz="1200" dirty="0">
                <a:solidFill>
                  <a:srgbClr val="FF6E28"/>
                </a:solidFill>
                <a:latin typeface="Courier New" pitchFamily="34" charset="0"/>
                <a:ea typeface="Courier New" pitchFamily="34" charset="-122"/>
                <a:cs typeface="Courier New" pitchFamily="34" charset="-120"/>
              </a:rPr>
              <a:t>17 · sixth form at Leicester Grammar School · part-time AI engineer at 4C</a:t>
            </a:r>
            <a:endParaRPr lang="en-US" sz="1200" dirty="0"/>
          </a:p>
        </p:txBody>
      </p:sp>
      <p:sp>
        <p:nvSpPr>
          <p:cNvPr id="5" name="Text 2"/>
          <p:cNvSpPr/>
          <p:nvPr/>
        </p:nvSpPr>
        <p:spPr>
          <a:xfrm>
            <a:off x="4572000" y="2880360"/>
            <a:ext cx="6766560" cy="1463040"/>
          </a:xfrm>
          <a:prstGeom prst="rect">
            <a:avLst/>
          </a:prstGeom>
          <a:noFill/>
          <a:ln/>
        </p:spPr>
        <p:txBody>
          <a:bodyPr wrap="square" rtlCol="0" anchor="ctr"/>
          <a:lstStyle/>
          <a:p>
            <a:pPr marL="0" indent="0">
              <a:lnSpc>
                <a:spcPts val="2600"/>
              </a:lnSpc>
              <a:spcAft>
                <a:spcPts val="1000"/>
              </a:spcAft>
              <a:buNone/>
            </a:pPr>
            <a:r>
              <a:rPr lang="en-US" sz="1700" dirty="0">
                <a:solidFill>
                  <a:srgbClr val="9B909A"/>
                </a:solidFill>
                <a:latin typeface="Calibri" pitchFamily="34" charset="0"/>
                <a:ea typeface="Calibri" pitchFamily="34" charset="-122"/>
                <a:cs typeface="Calibri" pitchFamily="34" charset="-120"/>
              </a:rPr>
              <a:t>After my A levels I am hoping to found a company, or jump straight into a software dev or AI job.</a:t>
            </a:r>
            <a:endParaRPr lang="en-US" sz="1700" dirty="0"/>
          </a:p>
          <a:p>
            <a:pPr marL="0" indent="0">
              <a:lnSpc>
                <a:spcPts val="2600"/>
              </a:lnSpc>
              <a:buNone/>
            </a:pPr>
            <a:r>
              <a:rPr lang="en-US" sz="1700" dirty="0">
                <a:solidFill>
                  <a:srgbClr val="9B909A"/>
                </a:solidFill>
                <a:latin typeface="Calibri" pitchFamily="34" charset="0"/>
                <a:ea typeface="Calibri" pitchFamily="34" charset="-122"/>
                <a:cs typeface="Calibri" pitchFamily="34" charset="-120"/>
              </a:rPr>
              <a:t>Solo entry. Everything you are about to see was built today.</a:t>
            </a:r>
            <a:endParaRPr lang="en-US" sz="1700" dirty="0"/>
          </a:p>
        </p:txBody>
      </p:sp>
      <p:sp>
        <p:nvSpPr>
          <p:cNvPr id="6" name="Text 3"/>
          <p:cNvSpPr/>
          <p:nvPr/>
        </p:nvSpPr>
        <p:spPr>
          <a:xfrm>
            <a:off x="4572000" y="4709160"/>
            <a:ext cx="6766560" cy="365760"/>
          </a:xfrm>
          <a:prstGeom prst="rect">
            <a:avLst/>
          </a:prstGeom>
          <a:noFill/>
          <a:ln/>
        </p:spPr>
        <p:txBody>
          <a:bodyPr wrap="square" rtlCol="0" anchor="ctr"/>
          <a:lstStyle/>
          <a:p>
            <a:pPr marL="0" indent="0">
              <a:buNone/>
            </a:pPr>
            <a:r>
              <a:rPr lang="en-US" sz="1300" dirty="0">
                <a:solidFill>
                  <a:srgbClr val="6E646D"/>
                </a:solidFill>
                <a:latin typeface="Courier New" pitchFamily="34" charset="0"/>
                <a:ea typeface="Courier New" pitchFamily="34" charset="-122"/>
                <a:cs typeface="Courier New" pitchFamily="34" charset="-120"/>
              </a:rPr>
              <a:t>github.com/brwbo/apic</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509"/>
        </a:solidFill>
        <a:effectLst/>
      </p:bgPr>
    </p:bg>
    <p:spTree>
      <p:nvGrpSpPr>
        <p:cNvPr id="1" name=""/>
        <p:cNvGrpSpPr/>
        <p:nvPr/>
      </p:nvGrpSpPr>
      <p:grpSpPr>
        <a:xfrm>
          <a:off x="0" y="0"/>
          <a:ext cx="0" cy="0"/>
          <a:chOff x="0" y="0"/>
          <a:chExt cx="0" cy="0"/>
        </a:xfrm>
      </p:grpSpPr>
      <p:sp>
        <p:nvSpPr>
          <p:cNvPr id="2" name="Text 0"/>
          <p:cNvSpPr/>
          <p:nvPr/>
        </p:nvSpPr>
        <p:spPr>
          <a:xfrm>
            <a:off x="822960" y="822960"/>
            <a:ext cx="10515600" cy="1554480"/>
          </a:xfrm>
          <a:prstGeom prst="rect">
            <a:avLst/>
          </a:prstGeom>
          <a:noFill/>
          <a:ln/>
        </p:spPr>
        <p:txBody>
          <a:bodyPr wrap="square" lIns="0" tIns="0" rIns="0" bIns="0" rtlCol="0" anchor="ctr"/>
          <a:lstStyle/>
          <a:p>
            <a:pPr marL="0" indent="0">
              <a:lnSpc>
                <a:spcPts val="5000"/>
              </a:lnSpc>
              <a:buNone/>
            </a:pPr>
            <a:r>
              <a:rPr lang="en-US" sz="4600" b="1" kern="0" spc="-150" dirty="0">
                <a:solidFill>
                  <a:srgbClr val="FFFFFF"/>
                </a:solidFill>
                <a:latin typeface="Arial" pitchFamily="34" charset="0"/>
                <a:ea typeface="Arial" pitchFamily="34" charset="-122"/>
                <a:cs typeface="Arial" pitchFamily="34" charset="-120"/>
              </a:rPr>
              <a:t>You can’t be bothered to browse every menu on Deliveroo.</a:t>
            </a:r>
            <a:endParaRPr lang="en-US" sz="4600" dirty="0"/>
          </a:p>
        </p:txBody>
      </p:sp>
      <p:sp>
        <p:nvSpPr>
          <p:cNvPr id="3" name="Text 1"/>
          <p:cNvSpPr/>
          <p:nvPr/>
        </p:nvSpPr>
        <p:spPr>
          <a:xfrm>
            <a:off x="822960" y="2606040"/>
            <a:ext cx="10515600" cy="548640"/>
          </a:xfrm>
          <a:prstGeom prst="rect">
            <a:avLst/>
          </a:prstGeom>
          <a:noFill/>
          <a:ln/>
        </p:spPr>
        <p:txBody>
          <a:bodyPr wrap="square" lIns="0" tIns="0" rIns="0" bIns="0" rtlCol="0" anchor="ctr"/>
          <a:lstStyle/>
          <a:p>
            <a:pPr marL="0" indent="0">
              <a:buNone/>
            </a:pPr>
            <a:r>
              <a:rPr lang="en-US" sz="2800" b="1" kern="0" spc="-50" dirty="0">
                <a:solidFill>
                  <a:srgbClr val="FF6E28"/>
                </a:solidFill>
                <a:latin typeface="Arial" pitchFamily="34" charset="0"/>
                <a:ea typeface="Arial" pitchFamily="34" charset="-122"/>
                <a:cs typeface="Arial" pitchFamily="34" charset="-120"/>
              </a:rPr>
              <a:t>So ask an agent to do it. It can’t.</a:t>
            </a:r>
            <a:endParaRPr lang="en-US" sz="2800" dirty="0"/>
          </a:p>
        </p:txBody>
      </p:sp>
      <p:sp>
        <p:nvSpPr>
          <p:cNvPr id="4" name="Text 2"/>
          <p:cNvSpPr/>
          <p:nvPr/>
        </p:nvSpPr>
        <p:spPr>
          <a:xfrm>
            <a:off x="822960" y="3429000"/>
            <a:ext cx="10058400" cy="1554480"/>
          </a:xfrm>
          <a:prstGeom prst="rect">
            <a:avLst/>
          </a:prstGeom>
          <a:noFill/>
          <a:ln/>
        </p:spPr>
        <p:txBody>
          <a:bodyPr wrap="square" lIns="0" tIns="0" rIns="0" bIns="0" rtlCol="0" anchor="ctr"/>
          <a:lstStyle/>
          <a:p>
            <a:pPr marL="0" indent="0">
              <a:lnSpc>
                <a:spcPts val="2800"/>
              </a:lnSpc>
              <a:spcAft>
                <a:spcPts val="1400"/>
              </a:spcAft>
              <a:buNone/>
            </a:pPr>
            <a:r>
              <a:rPr lang="en-US" sz="1900" dirty="0">
                <a:solidFill>
                  <a:srgbClr val="9B909A"/>
                </a:solidFill>
                <a:latin typeface="Calibri" pitchFamily="34" charset="0"/>
                <a:ea typeface="Calibri" pitchFamily="34" charset="-122"/>
                <a:cs typeface="Calibri" pitchFamily="34" charset="-120"/>
              </a:rPr>
              <a:t>Deliveroo has no public consumer API. Neither does your council’s planning portal, or the system your finance team logged into this morning. A site that renders a page for a human and offers nothing else is a wall to everything that is not one.</a:t>
            </a:r>
            <a:endParaRPr lang="en-US" sz="1900" dirty="0"/>
          </a:p>
          <a:p>
            <a:pPr marL="0" indent="0">
              <a:lnSpc>
                <a:spcPts val="2800"/>
              </a:lnSpc>
              <a:buNone/>
            </a:pPr>
            <a:r>
              <a:rPr lang="en-US" sz="1900" dirty="0">
                <a:solidFill>
                  <a:srgbClr val="D8CFD6"/>
                </a:solidFill>
                <a:latin typeface="Calibri" pitchFamily="34" charset="0"/>
                <a:ea typeface="Calibri" pitchFamily="34" charset="-122"/>
                <a:cs typeface="Calibri" pitchFamily="34" charset="-120"/>
              </a:rPr>
              <a:t>That is most of the web an agent would actually want to use.</a:t>
            </a:r>
            <a:endParaRPr lang="en-US" sz="1900" dirty="0"/>
          </a:p>
        </p:txBody>
      </p:sp>
      <p:sp>
        <p:nvSpPr>
          <p:cNvPr id="5" name="Text 3"/>
          <p:cNvSpPr/>
          <p:nvPr/>
        </p:nvSpPr>
        <p:spPr>
          <a:xfrm>
            <a:off x="822960" y="5806440"/>
            <a:ext cx="10515600" cy="411480"/>
          </a:xfrm>
          <a:prstGeom prst="rect">
            <a:avLst/>
          </a:prstGeom>
          <a:noFill/>
          <a:ln/>
        </p:spPr>
        <p:txBody>
          <a:bodyPr wrap="square" lIns="0" tIns="0" rIns="0" bIns="0" rtlCol="0" anchor="ctr"/>
          <a:lstStyle/>
          <a:p>
            <a:pPr marL="0" indent="0">
              <a:buNone/>
            </a:pPr>
            <a:r>
              <a:rPr lang="en-US" sz="1200" dirty="0">
                <a:solidFill>
                  <a:srgbClr val="6E646D"/>
                </a:solidFill>
                <a:latin typeface="Calibri" pitchFamily="34" charset="0"/>
                <a:ea typeface="Calibri" pitchFamily="34" charset="-122"/>
                <a:cs typeface="Calibri" pitchFamily="34" charset="-120"/>
              </a:rPr>
              <a:t>Read-only by construction — one request per second, cookies declined, no login, no basket, no checkout, and a hard stop on any challenge page.</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509"/>
        </a:solidFill>
        <a:effectLst/>
      </p:bgPr>
    </p:bg>
    <p:spTree>
      <p:nvGrpSpPr>
        <p:cNvPr id="1" name=""/>
        <p:cNvGrpSpPr/>
        <p:nvPr/>
      </p:nvGrpSpPr>
      <p:grpSpPr>
        <a:xfrm>
          <a:off x="0" y="0"/>
          <a:ext cx="0" cy="0"/>
          <a:chOff x="0" y="0"/>
          <a:chExt cx="0" cy="0"/>
        </a:xfrm>
      </p:grpSpPr>
      <p:sp>
        <p:nvSpPr>
          <p:cNvPr id="2" name="Text 0"/>
          <p:cNvSpPr/>
          <p:nvPr/>
        </p:nvSpPr>
        <p:spPr>
          <a:xfrm>
            <a:off x="822960" y="457200"/>
            <a:ext cx="10515600" cy="640080"/>
          </a:xfrm>
          <a:prstGeom prst="rect">
            <a:avLst/>
          </a:prstGeom>
          <a:noFill/>
          <a:ln/>
        </p:spPr>
        <p:txBody>
          <a:bodyPr wrap="square" lIns="0" tIns="0" rIns="0" bIns="0" rtlCol="0" anchor="ctr"/>
          <a:lstStyle/>
          <a:p>
            <a:pPr marL="0" indent="0">
              <a:buNone/>
            </a:pPr>
            <a:r>
              <a:rPr lang="en-US" sz="3400" b="1" kern="0" spc="-100" dirty="0">
                <a:solidFill>
                  <a:srgbClr val="FFFFFF"/>
                </a:solidFill>
                <a:latin typeface="Arial" pitchFamily="34" charset="0"/>
                <a:ea typeface="Arial" pitchFamily="34" charset="-122"/>
                <a:cs typeface="Arial" pitchFamily="34" charset="-120"/>
              </a:rPr>
              <a:t>Compile, don’t interpret.</a:t>
            </a:r>
            <a:endParaRPr lang="en-US" sz="3400" dirty="0"/>
          </a:p>
        </p:txBody>
      </p:sp>
      <p:sp>
        <p:nvSpPr>
          <p:cNvPr id="3" name="Text 1"/>
          <p:cNvSpPr/>
          <p:nvPr/>
        </p:nvSpPr>
        <p:spPr>
          <a:xfrm>
            <a:off x="822960" y="1188720"/>
            <a:ext cx="9326880" cy="685800"/>
          </a:xfrm>
          <a:prstGeom prst="rect">
            <a:avLst/>
          </a:prstGeom>
          <a:noFill/>
          <a:ln/>
        </p:spPr>
        <p:txBody>
          <a:bodyPr wrap="square" lIns="0" tIns="0" rIns="0" bIns="0" rtlCol="0" anchor="ctr"/>
          <a:lstStyle/>
          <a:p>
            <a:pPr marL="0" indent="0">
              <a:lnSpc>
                <a:spcPts val="2100"/>
              </a:lnSpc>
              <a:buNone/>
            </a:pPr>
            <a:r>
              <a:rPr lang="en-US" sz="1500" dirty="0">
                <a:solidFill>
                  <a:srgbClr val="9B909A"/>
                </a:solidFill>
                <a:latin typeface="Calibri" pitchFamily="34" charset="0"/>
                <a:ea typeface="Calibri" pitchFamily="34" charset="-122"/>
                <a:cs typeface="Calibri" pitchFamily="34" charset="-120"/>
              </a:rPr>
              <a:t>Everything else in this space is an interpreter for a web app — it looks at the page, reasons about which control is which, acts, and reasons again, on every single call. apic does that reasoning once and writes the answer down.</a:t>
            </a:r>
            <a:endParaRPr lang="en-US" sz="1500" dirty="0"/>
          </a:p>
        </p:txBody>
      </p:sp>
      <p:sp>
        <p:nvSpPr>
          <p:cNvPr id="4" name="Shape 2"/>
          <p:cNvSpPr/>
          <p:nvPr/>
        </p:nvSpPr>
        <p:spPr>
          <a:xfrm>
            <a:off x="7635240" y="1828800"/>
            <a:ext cx="3794760" cy="3977640"/>
          </a:xfrm>
          <a:prstGeom prst="roundRect">
            <a:avLst>
              <a:gd name="adj" fmla="val 2892"/>
            </a:avLst>
          </a:prstGeom>
          <a:solidFill>
            <a:srgbClr val="2A1408"/>
          </a:solidFill>
          <a:ln w="12700">
            <a:solidFill>
              <a:srgbClr val="5C3216"/>
            </a:solidFill>
            <a:prstDash val="solid"/>
          </a:ln>
        </p:spPr>
        <p:txBody>
          <a:bodyPr/>
          <a:lstStyle/>
          <a:p>
            <a:endParaRPr lang="en-US"/>
          </a:p>
        </p:txBody>
      </p:sp>
      <p:sp>
        <p:nvSpPr>
          <p:cNvPr id="5" name="Text 3"/>
          <p:cNvSpPr/>
          <p:nvPr/>
        </p:nvSpPr>
        <p:spPr>
          <a:xfrm>
            <a:off x="822960" y="2011680"/>
            <a:ext cx="3108960" cy="274320"/>
          </a:xfrm>
          <a:prstGeom prst="rect">
            <a:avLst/>
          </a:prstGeom>
          <a:noFill/>
          <a:ln/>
        </p:spPr>
        <p:txBody>
          <a:bodyPr wrap="square" lIns="0" tIns="0" rIns="0" bIns="0" rtlCol="0" anchor="ctr"/>
          <a:lstStyle/>
          <a:p>
            <a:pPr marL="0" indent="0">
              <a:buNone/>
            </a:pPr>
            <a:r>
              <a:rPr lang="en-US" sz="1000" kern="0" spc="200" dirty="0">
                <a:solidFill>
                  <a:srgbClr val="6E646D"/>
                </a:solidFill>
                <a:latin typeface="Courier New" pitchFamily="34" charset="0"/>
                <a:ea typeface="Courier New" pitchFamily="34" charset="-122"/>
                <a:cs typeface="Courier New" pitchFamily="34" charset="-120"/>
              </a:rPr>
              <a:t>per call</a:t>
            </a:r>
            <a:endParaRPr lang="en-US" sz="1000" dirty="0"/>
          </a:p>
        </p:txBody>
      </p:sp>
      <p:sp>
        <p:nvSpPr>
          <p:cNvPr id="6" name="Text 4"/>
          <p:cNvSpPr/>
          <p:nvPr/>
        </p:nvSpPr>
        <p:spPr>
          <a:xfrm>
            <a:off x="4114800" y="2011680"/>
            <a:ext cx="3291840" cy="274320"/>
          </a:xfrm>
          <a:prstGeom prst="rect">
            <a:avLst/>
          </a:prstGeom>
          <a:noFill/>
          <a:ln/>
        </p:spPr>
        <p:txBody>
          <a:bodyPr wrap="square" lIns="0" tIns="0" rIns="0" bIns="0" rtlCol="0" anchor="ctr"/>
          <a:lstStyle/>
          <a:p>
            <a:pPr marL="0" indent="0">
              <a:buNone/>
            </a:pPr>
            <a:r>
              <a:rPr lang="en-US" sz="1000" kern="0" spc="200" dirty="0">
                <a:solidFill>
                  <a:srgbClr val="6E646D"/>
                </a:solidFill>
                <a:latin typeface="Courier New" pitchFamily="34" charset="0"/>
                <a:ea typeface="Courier New" pitchFamily="34" charset="-122"/>
                <a:cs typeface="Courier New" pitchFamily="34" charset="-120"/>
              </a:rPr>
              <a:t>INTERPRETED</a:t>
            </a:r>
            <a:endParaRPr lang="en-US" sz="1000" dirty="0"/>
          </a:p>
        </p:txBody>
      </p:sp>
      <p:sp>
        <p:nvSpPr>
          <p:cNvPr id="7" name="Text 5"/>
          <p:cNvSpPr/>
          <p:nvPr/>
        </p:nvSpPr>
        <p:spPr>
          <a:xfrm>
            <a:off x="4114800" y="2258568"/>
            <a:ext cx="3291840" cy="274320"/>
          </a:xfrm>
          <a:prstGeom prst="rect">
            <a:avLst/>
          </a:prstGeom>
          <a:noFill/>
          <a:ln/>
        </p:spPr>
        <p:txBody>
          <a:bodyPr wrap="square" lIns="0" tIns="0" rIns="0" bIns="0" rtlCol="0" anchor="ctr"/>
          <a:lstStyle/>
          <a:p>
            <a:pPr marL="0" indent="0">
              <a:buNone/>
            </a:pPr>
            <a:r>
              <a:rPr lang="en-US" sz="1200" dirty="0">
                <a:solidFill>
                  <a:srgbClr val="6E646D"/>
                </a:solidFill>
                <a:latin typeface="Calibri" pitchFamily="34" charset="0"/>
                <a:ea typeface="Calibri" pitchFamily="34" charset="-122"/>
                <a:cs typeface="Calibri" pitchFamily="34" charset="-120"/>
              </a:rPr>
              <a:t>Apify AI Web Scraper, Playwright MCP</a:t>
            </a:r>
            <a:endParaRPr lang="en-US" sz="1200" dirty="0"/>
          </a:p>
        </p:txBody>
      </p:sp>
      <p:sp>
        <p:nvSpPr>
          <p:cNvPr id="8" name="Text 6"/>
          <p:cNvSpPr/>
          <p:nvPr/>
        </p:nvSpPr>
        <p:spPr>
          <a:xfrm>
            <a:off x="7909560" y="2011680"/>
            <a:ext cx="3291840" cy="274320"/>
          </a:xfrm>
          <a:prstGeom prst="rect">
            <a:avLst/>
          </a:prstGeom>
          <a:noFill/>
          <a:ln/>
        </p:spPr>
        <p:txBody>
          <a:bodyPr wrap="square" lIns="0" tIns="0" rIns="0" bIns="0" rtlCol="0" anchor="ctr"/>
          <a:lstStyle/>
          <a:p>
            <a:pPr marL="0" indent="0">
              <a:buNone/>
            </a:pPr>
            <a:r>
              <a:rPr lang="en-US" sz="1000" kern="0" spc="200" dirty="0">
                <a:solidFill>
                  <a:srgbClr val="FF6E28"/>
                </a:solidFill>
                <a:latin typeface="Courier New" pitchFamily="34" charset="0"/>
                <a:ea typeface="Courier New" pitchFamily="34" charset="-122"/>
                <a:cs typeface="Courier New" pitchFamily="34" charset="-120"/>
              </a:rPr>
              <a:t>COMPILED</a:t>
            </a:r>
            <a:endParaRPr lang="en-US" sz="1000" dirty="0"/>
          </a:p>
        </p:txBody>
      </p:sp>
      <p:sp>
        <p:nvSpPr>
          <p:cNvPr id="9" name="Text 7"/>
          <p:cNvSpPr/>
          <p:nvPr/>
        </p:nvSpPr>
        <p:spPr>
          <a:xfrm>
            <a:off x="7909560" y="2258568"/>
            <a:ext cx="3291840" cy="274320"/>
          </a:xfrm>
          <a:prstGeom prst="rect">
            <a:avLst/>
          </a:prstGeom>
          <a:noFill/>
          <a:ln/>
        </p:spPr>
        <p:txBody>
          <a:bodyPr wrap="square" lIns="0" tIns="0" rIns="0" bIns="0" rtlCol="0" anchor="ctr"/>
          <a:lstStyle/>
          <a:p>
            <a:pPr marL="0" indent="0">
              <a:buNone/>
            </a:pPr>
            <a:r>
              <a:rPr lang="en-US" sz="1200" dirty="0">
                <a:solidFill>
                  <a:srgbClr val="D8CFD6"/>
                </a:solidFill>
                <a:latin typeface="Calibri" pitchFamily="34" charset="0"/>
                <a:ea typeface="Calibri" pitchFamily="34" charset="-122"/>
                <a:cs typeface="Calibri" pitchFamily="34" charset="-120"/>
              </a:rPr>
              <a:t>apic</a:t>
            </a:r>
            <a:endParaRPr lang="en-US" sz="1200" dirty="0"/>
          </a:p>
        </p:txBody>
      </p:sp>
      <p:sp>
        <p:nvSpPr>
          <p:cNvPr id="10" name="Text 8"/>
          <p:cNvSpPr/>
          <p:nvPr/>
        </p:nvSpPr>
        <p:spPr>
          <a:xfrm>
            <a:off x="822960" y="2724912"/>
            <a:ext cx="3108960" cy="530352"/>
          </a:xfrm>
          <a:prstGeom prst="rect">
            <a:avLst/>
          </a:prstGeom>
          <a:noFill/>
          <a:ln/>
        </p:spPr>
        <p:txBody>
          <a:bodyPr wrap="square" lIns="0" tIns="0" rIns="0" bIns="0" rtlCol="0" anchor="t"/>
          <a:lstStyle/>
          <a:p>
            <a:pPr marL="0" indent="0">
              <a:lnSpc>
                <a:spcPts val="1800"/>
              </a:lnSpc>
              <a:buNone/>
            </a:pPr>
            <a:r>
              <a:rPr lang="en-US" sz="1300" dirty="0">
                <a:solidFill>
                  <a:srgbClr val="8A7F89"/>
                </a:solidFill>
                <a:latin typeface="Calibri" pitchFamily="34" charset="0"/>
                <a:ea typeface="Calibri" pitchFamily="34" charset="-122"/>
                <a:cs typeface="Calibri" pitchFamily="34" charset="-120"/>
              </a:rPr>
              <a:t>Model round-trips</a:t>
            </a:r>
            <a:endParaRPr lang="en-US" sz="1300" dirty="0"/>
          </a:p>
        </p:txBody>
      </p:sp>
      <p:sp>
        <p:nvSpPr>
          <p:cNvPr id="11" name="Text 9"/>
          <p:cNvSpPr/>
          <p:nvPr/>
        </p:nvSpPr>
        <p:spPr>
          <a:xfrm>
            <a:off x="4114800" y="2724912"/>
            <a:ext cx="3291840" cy="530352"/>
          </a:xfrm>
          <a:prstGeom prst="rect">
            <a:avLst/>
          </a:prstGeom>
          <a:noFill/>
          <a:ln/>
        </p:spPr>
        <p:txBody>
          <a:bodyPr wrap="square" lIns="0" tIns="0" rIns="0" bIns="0" rtlCol="0" anchor="t"/>
          <a:lstStyle/>
          <a:p>
            <a:pPr marL="0" indent="0">
              <a:lnSpc>
                <a:spcPts val="1800"/>
              </a:lnSpc>
              <a:buNone/>
            </a:pPr>
            <a:r>
              <a:rPr lang="en-US" sz="1300" dirty="0">
                <a:solidFill>
                  <a:srgbClr val="9B909A"/>
                </a:solidFill>
                <a:latin typeface="Calibri" pitchFamily="34" charset="0"/>
                <a:ea typeface="Calibri" pitchFamily="34" charset="-122"/>
                <a:cs typeface="Calibri" pitchFamily="34" charset="-120"/>
              </a:rPr>
              <a:t>one per step</a:t>
            </a:r>
            <a:endParaRPr lang="en-US" sz="1300" dirty="0"/>
          </a:p>
        </p:txBody>
      </p:sp>
      <p:sp>
        <p:nvSpPr>
          <p:cNvPr id="12" name="Text 10"/>
          <p:cNvSpPr/>
          <p:nvPr/>
        </p:nvSpPr>
        <p:spPr>
          <a:xfrm>
            <a:off x="7909560" y="2724912"/>
            <a:ext cx="3291840" cy="530352"/>
          </a:xfrm>
          <a:prstGeom prst="rect">
            <a:avLst/>
          </a:prstGeom>
          <a:noFill/>
          <a:ln/>
        </p:spPr>
        <p:txBody>
          <a:bodyPr wrap="square" lIns="0" tIns="0" rIns="0" bIns="0" rtlCol="0" anchor="t"/>
          <a:lstStyle/>
          <a:p>
            <a:pPr marL="0" indent="0">
              <a:lnSpc>
                <a:spcPts val="1800"/>
              </a:lnSpc>
              <a:buNone/>
            </a:pPr>
            <a:r>
              <a:rPr lang="en-US" sz="1300" b="1" dirty="0">
                <a:solidFill>
                  <a:srgbClr val="FFFFFF"/>
                </a:solidFill>
                <a:latin typeface="Calibri" pitchFamily="34" charset="0"/>
                <a:ea typeface="Calibri" pitchFamily="34" charset="-122"/>
                <a:cs typeface="Calibri" pitchFamily="34" charset="-120"/>
              </a:rPr>
              <a:t>none</a:t>
            </a:r>
            <a:endParaRPr lang="en-US" sz="1300" dirty="0"/>
          </a:p>
        </p:txBody>
      </p:sp>
      <p:sp>
        <p:nvSpPr>
          <p:cNvPr id="13" name="Text 11"/>
          <p:cNvSpPr/>
          <p:nvPr/>
        </p:nvSpPr>
        <p:spPr>
          <a:xfrm>
            <a:off x="822960" y="3310128"/>
            <a:ext cx="3108960" cy="530352"/>
          </a:xfrm>
          <a:prstGeom prst="rect">
            <a:avLst/>
          </a:prstGeom>
          <a:noFill/>
          <a:ln/>
        </p:spPr>
        <p:txBody>
          <a:bodyPr wrap="square" lIns="0" tIns="0" rIns="0" bIns="0" rtlCol="0" anchor="t"/>
          <a:lstStyle/>
          <a:p>
            <a:pPr marL="0" indent="0">
              <a:lnSpc>
                <a:spcPts val="1800"/>
              </a:lnSpc>
              <a:buNone/>
            </a:pPr>
            <a:r>
              <a:rPr lang="en-US" sz="1300" dirty="0">
                <a:solidFill>
                  <a:srgbClr val="8A7F89"/>
                </a:solidFill>
                <a:latin typeface="Calibri" pitchFamily="34" charset="0"/>
                <a:ea typeface="Calibri" pitchFamily="34" charset="-122"/>
                <a:cs typeface="Calibri" pitchFamily="34" charset="-120"/>
              </a:rPr>
              <a:t>Context consumed</a:t>
            </a:r>
            <a:endParaRPr lang="en-US" sz="1300" dirty="0"/>
          </a:p>
        </p:txBody>
      </p:sp>
      <p:sp>
        <p:nvSpPr>
          <p:cNvPr id="14" name="Text 12"/>
          <p:cNvSpPr/>
          <p:nvPr/>
        </p:nvSpPr>
        <p:spPr>
          <a:xfrm>
            <a:off x="4114800" y="3310128"/>
            <a:ext cx="3291840" cy="530352"/>
          </a:xfrm>
          <a:prstGeom prst="rect">
            <a:avLst/>
          </a:prstGeom>
          <a:noFill/>
          <a:ln/>
        </p:spPr>
        <p:txBody>
          <a:bodyPr wrap="square" lIns="0" tIns="0" rIns="0" bIns="0" rtlCol="0" anchor="t"/>
          <a:lstStyle/>
          <a:p>
            <a:pPr marL="0" indent="0">
              <a:lnSpc>
                <a:spcPts val="1800"/>
              </a:lnSpc>
              <a:buNone/>
            </a:pPr>
            <a:r>
              <a:rPr lang="en-US" sz="1300" dirty="0">
                <a:solidFill>
                  <a:srgbClr val="9B909A"/>
                </a:solidFill>
                <a:latin typeface="Calibri" pitchFamily="34" charset="0"/>
                <a:ea typeface="Calibri" pitchFamily="34" charset="-122"/>
                <a:cs typeface="Calibri" pitchFamily="34" charset="-120"/>
              </a:rPr>
              <a:t>a page snapshot per step</a:t>
            </a:r>
            <a:endParaRPr lang="en-US" sz="1300" dirty="0"/>
          </a:p>
        </p:txBody>
      </p:sp>
      <p:sp>
        <p:nvSpPr>
          <p:cNvPr id="15" name="Text 13"/>
          <p:cNvSpPr/>
          <p:nvPr/>
        </p:nvSpPr>
        <p:spPr>
          <a:xfrm>
            <a:off x="7909560" y="3310128"/>
            <a:ext cx="3291840" cy="530352"/>
          </a:xfrm>
          <a:prstGeom prst="rect">
            <a:avLst/>
          </a:prstGeom>
          <a:noFill/>
          <a:ln/>
        </p:spPr>
        <p:txBody>
          <a:bodyPr wrap="square" lIns="0" tIns="0" rIns="0" bIns="0" rtlCol="0" anchor="t"/>
          <a:lstStyle/>
          <a:p>
            <a:pPr marL="0" indent="0">
              <a:lnSpc>
                <a:spcPts val="1800"/>
              </a:lnSpc>
              <a:buNone/>
            </a:pPr>
            <a:r>
              <a:rPr lang="en-US" sz="1300" b="1" dirty="0">
                <a:solidFill>
                  <a:srgbClr val="FFFFFF"/>
                </a:solidFill>
                <a:latin typeface="Calibri" pitchFamily="34" charset="0"/>
                <a:ea typeface="Calibri" pitchFamily="34" charset="-122"/>
                <a:cs typeface="Calibri" pitchFamily="34" charset="-120"/>
              </a:rPr>
              <a:t>the arguments</a:t>
            </a:r>
            <a:endParaRPr lang="en-US" sz="1300" dirty="0"/>
          </a:p>
        </p:txBody>
      </p:sp>
      <p:sp>
        <p:nvSpPr>
          <p:cNvPr id="16" name="Text 14"/>
          <p:cNvSpPr/>
          <p:nvPr/>
        </p:nvSpPr>
        <p:spPr>
          <a:xfrm>
            <a:off x="822960" y="3895344"/>
            <a:ext cx="3108960" cy="530352"/>
          </a:xfrm>
          <a:prstGeom prst="rect">
            <a:avLst/>
          </a:prstGeom>
          <a:noFill/>
          <a:ln/>
        </p:spPr>
        <p:txBody>
          <a:bodyPr wrap="square" lIns="0" tIns="0" rIns="0" bIns="0" rtlCol="0" anchor="t"/>
          <a:lstStyle/>
          <a:p>
            <a:pPr marL="0" indent="0">
              <a:lnSpc>
                <a:spcPts val="1800"/>
              </a:lnSpc>
              <a:buNone/>
            </a:pPr>
            <a:r>
              <a:rPr lang="en-US" sz="1300" dirty="0">
                <a:solidFill>
                  <a:srgbClr val="8A7F89"/>
                </a:solidFill>
                <a:latin typeface="Calibri" pitchFamily="34" charset="0"/>
                <a:ea typeface="Calibri" pitchFamily="34" charset="-122"/>
                <a:cs typeface="Calibri" pitchFamily="34" charset="-120"/>
              </a:rPr>
              <a:t>Reliability over 5 steps</a:t>
            </a:r>
            <a:endParaRPr lang="en-US" sz="1300" dirty="0"/>
          </a:p>
        </p:txBody>
      </p:sp>
      <p:sp>
        <p:nvSpPr>
          <p:cNvPr id="17" name="Text 15"/>
          <p:cNvSpPr/>
          <p:nvPr/>
        </p:nvSpPr>
        <p:spPr>
          <a:xfrm>
            <a:off x="4114800" y="3895344"/>
            <a:ext cx="3291840" cy="530352"/>
          </a:xfrm>
          <a:prstGeom prst="rect">
            <a:avLst/>
          </a:prstGeom>
          <a:noFill/>
          <a:ln/>
        </p:spPr>
        <p:txBody>
          <a:bodyPr wrap="square" lIns="0" tIns="0" rIns="0" bIns="0" rtlCol="0" anchor="t"/>
          <a:lstStyle/>
          <a:p>
            <a:pPr marL="0" indent="0">
              <a:lnSpc>
                <a:spcPts val="1800"/>
              </a:lnSpc>
              <a:buNone/>
            </a:pPr>
            <a:r>
              <a:rPr lang="en-US" sz="1300" dirty="0">
                <a:solidFill>
                  <a:srgbClr val="9B909A"/>
                </a:solidFill>
                <a:latin typeface="Calibri" pitchFamily="34" charset="0"/>
                <a:ea typeface="Calibri" pitchFamily="34" charset="-122"/>
                <a:cs typeface="Calibri" pitchFamily="34" charset="-120"/>
              </a:rPr>
              <a:t>0.95⁵ ≈ 77%</a:t>
            </a:r>
            <a:endParaRPr lang="en-US" sz="1300" dirty="0"/>
          </a:p>
        </p:txBody>
      </p:sp>
      <p:sp>
        <p:nvSpPr>
          <p:cNvPr id="18" name="Text 16"/>
          <p:cNvSpPr/>
          <p:nvPr/>
        </p:nvSpPr>
        <p:spPr>
          <a:xfrm>
            <a:off x="7909560" y="3895344"/>
            <a:ext cx="3291840" cy="530352"/>
          </a:xfrm>
          <a:prstGeom prst="rect">
            <a:avLst/>
          </a:prstGeom>
          <a:noFill/>
          <a:ln/>
        </p:spPr>
        <p:txBody>
          <a:bodyPr wrap="square" lIns="0" tIns="0" rIns="0" bIns="0" rtlCol="0" anchor="t"/>
          <a:lstStyle/>
          <a:p>
            <a:pPr marL="0" indent="0">
              <a:lnSpc>
                <a:spcPts val="1800"/>
              </a:lnSpc>
              <a:buNone/>
            </a:pPr>
            <a:r>
              <a:rPr lang="en-US" sz="1300" b="1" dirty="0">
                <a:solidFill>
                  <a:srgbClr val="FFFFFF"/>
                </a:solidFill>
                <a:latin typeface="Calibri" pitchFamily="34" charset="0"/>
                <a:ea typeface="Calibri" pitchFamily="34" charset="-122"/>
                <a:cs typeface="Calibri" pitchFamily="34" charset="-120"/>
              </a:rPr>
              <a:t>it works, or the suite goes red</a:t>
            </a:r>
            <a:endParaRPr lang="en-US" sz="1300" dirty="0"/>
          </a:p>
        </p:txBody>
      </p:sp>
      <p:sp>
        <p:nvSpPr>
          <p:cNvPr id="19" name="Text 17"/>
          <p:cNvSpPr/>
          <p:nvPr/>
        </p:nvSpPr>
        <p:spPr>
          <a:xfrm>
            <a:off x="822960" y="4480560"/>
            <a:ext cx="3108960" cy="530352"/>
          </a:xfrm>
          <a:prstGeom prst="rect">
            <a:avLst/>
          </a:prstGeom>
          <a:noFill/>
          <a:ln/>
        </p:spPr>
        <p:txBody>
          <a:bodyPr wrap="square" lIns="0" tIns="0" rIns="0" bIns="0" rtlCol="0" anchor="t"/>
          <a:lstStyle/>
          <a:p>
            <a:pPr marL="0" indent="0">
              <a:lnSpc>
                <a:spcPts val="1800"/>
              </a:lnSpc>
              <a:buNone/>
            </a:pPr>
            <a:r>
              <a:rPr lang="en-US" sz="1300" dirty="0">
                <a:solidFill>
                  <a:srgbClr val="8A7F89"/>
                </a:solidFill>
                <a:latin typeface="Calibri" pitchFamily="34" charset="0"/>
                <a:ea typeface="Calibri" pitchFamily="34" charset="-122"/>
                <a:cs typeface="Calibri" pitchFamily="34" charset="-120"/>
              </a:rPr>
              <a:t>When the UI changes</a:t>
            </a:r>
            <a:endParaRPr lang="en-US" sz="1300" dirty="0"/>
          </a:p>
        </p:txBody>
      </p:sp>
      <p:sp>
        <p:nvSpPr>
          <p:cNvPr id="20" name="Text 18"/>
          <p:cNvSpPr/>
          <p:nvPr/>
        </p:nvSpPr>
        <p:spPr>
          <a:xfrm>
            <a:off x="4114800" y="4480560"/>
            <a:ext cx="3291840" cy="530352"/>
          </a:xfrm>
          <a:prstGeom prst="rect">
            <a:avLst/>
          </a:prstGeom>
          <a:noFill/>
          <a:ln/>
        </p:spPr>
        <p:txBody>
          <a:bodyPr wrap="square" lIns="0" tIns="0" rIns="0" bIns="0" rtlCol="0" anchor="t"/>
          <a:lstStyle/>
          <a:p>
            <a:pPr marL="0" indent="0">
              <a:lnSpc>
                <a:spcPts val="1800"/>
              </a:lnSpc>
              <a:buNone/>
            </a:pPr>
            <a:r>
              <a:rPr lang="en-US" sz="1300" dirty="0">
                <a:solidFill>
                  <a:srgbClr val="9B909A"/>
                </a:solidFill>
                <a:latin typeface="Calibri" pitchFamily="34" charset="0"/>
                <a:ea typeface="Calibri" pitchFamily="34" charset="-122"/>
                <a:cs typeface="Calibri" pitchFamily="34" charset="-120"/>
              </a:rPr>
              <a:t>improvises, sometimes wrongly</a:t>
            </a:r>
            <a:endParaRPr lang="en-US" sz="1300" dirty="0"/>
          </a:p>
        </p:txBody>
      </p:sp>
      <p:sp>
        <p:nvSpPr>
          <p:cNvPr id="21" name="Text 19"/>
          <p:cNvSpPr/>
          <p:nvPr/>
        </p:nvSpPr>
        <p:spPr>
          <a:xfrm>
            <a:off x="7909560" y="4480560"/>
            <a:ext cx="3291840" cy="530352"/>
          </a:xfrm>
          <a:prstGeom prst="rect">
            <a:avLst/>
          </a:prstGeom>
          <a:noFill/>
          <a:ln/>
        </p:spPr>
        <p:txBody>
          <a:bodyPr wrap="square" lIns="0" tIns="0" rIns="0" bIns="0" rtlCol="0" anchor="t"/>
          <a:lstStyle/>
          <a:p>
            <a:pPr marL="0" indent="0">
              <a:lnSpc>
                <a:spcPts val="1800"/>
              </a:lnSpc>
              <a:buNone/>
            </a:pPr>
            <a:r>
              <a:rPr lang="en-US" sz="1300" b="1" dirty="0">
                <a:solidFill>
                  <a:srgbClr val="FFFFFF"/>
                </a:solidFill>
                <a:latin typeface="Calibri" pitchFamily="34" charset="0"/>
                <a:ea typeface="Calibri" pitchFamily="34" charset="-122"/>
                <a:cs typeface="Calibri" pitchFamily="34" charset="-120"/>
              </a:rPr>
              <a:t>re-discovers and rebuilds</a:t>
            </a:r>
            <a:endParaRPr lang="en-US" sz="1300" dirty="0"/>
          </a:p>
        </p:txBody>
      </p:sp>
      <p:sp>
        <p:nvSpPr>
          <p:cNvPr id="22" name="Text 20"/>
          <p:cNvSpPr/>
          <p:nvPr/>
        </p:nvSpPr>
        <p:spPr>
          <a:xfrm>
            <a:off x="822960" y="5065776"/>
            <a:ext cx="3108960" cy="530352"/>
          </a:xfrm>
          <a:prstGeom prst="rect">
            <a:avLst/>
          </a:prstGeom>
          <a:noFill/>
          <a:ln/>
        </p:spPr>
        <p:txBody>
          <a:bodyPr wrap="square" lIns="0" tIns="0" rIns="0" bIns="0" rtlCol="0" anchor="t"/>
          <a:lstStyle/>
          <a:p>
            <a:pPr marL="0" indent="0">
              <a:lnSpc>
                <a:spcPts val="1800"/>
              </a:lnSpc>
              <a:buNone/>
            </a:pPr>
            <a:r>
              <a:rPr lang="en-US" sz="1300" dirty="0">
                <a:solidFill>
                  <a:srgbClr val="8A7F89"/>
                </a:solidFill>
                <a:latin typeface="Calibri" pitchFamily="34" charset="0"/>
                <a:ea typeface="Calibri" pitchFamily="34" charset="-122"/>
                <a:cs typeface="Calibri" pitchFamily="34" charset="-120"/>
              </a:rPr>
              <a:t>What you get back</a:t>
            </a:r>
            <a:endParaRPr lang="en-US" sz="1300" dirty="0"/>
          </a:p>
        </p:txBody>
      </p:sp>
      <p:sp>
        <p:nvSpPr>
          <p:cNvPr id="23" name="Text 21"/>
          <p:cNvSpPr/>
          <p:nvPr/>
        </p:nvSpPr>
        <p:spPr>
          <a:xfrm>
            <a:off x="4114800" y="5065776"/>
            <a:ext cx="3291840" cy="530352"/>
          </a:xfrm>
          <a:prstGeom prst="rect">
            <a:avLst/>
          </a:prstGeom>
          <a:noFill/>
          <a:ln/>
        </p:spPr>
        <p:txBody>
          <a:bodyPr wrap="square" lIns="0" tIns="0" rIns="0" bIns="0" rtlCol="0" anchor="t"/>
          <a:lstStyle/>
          <a:p>
            <a:pPr marL="0" indent="0">
              <a:lnSpc>
                <a:spcPts val="1800"/>
              </a:lnSpc>
              <a:buNone/>
            </a:pPr>
            <a:r>
              <a:rPr lang="en-US" sz="1300" dirty="0">
                <a:solidFill>
                  <a:srgbClr val="9B909A"/>
                </a:solidFill>
                <a:latin typeface="Calibri" pitchFamily="34" charset="0"/>
                <a:ea typeface="Calibri" pitchFamily="34" charset="-122"/>
                <a:cs typeface="Calibri" pitchFamily="34" charset="-120"/>
              </a:rPr>
              <a:t>data, this once</a:t>
            </a:r>
            <a:endParaRPr lang="en-US" sz="1300" dirty="0"/>
          </a:p>
        </p:txBody>
      </p:sp>
      <p:sp>
        <p:nvSpPr>
          <p:cNvPr id="24" name="Text 22"/>
          <p:cNvSpPr/>
          <p:nvPr/>
        </p:nvSpPr>
        <p:spPr>
          <a:xfrm>
            <a:off x="7909560" y="5065776"/>
            <a:ext cx="3291840" cy="530352"/>
          </a:xfrm>
          <a:prstGeom prst="rect">
            <a:avLst/>
          </a:prstGeom>
          <a:noFill/>
          <a:ln/>
        </p:spPr>
        <p:txBody>
          <a:bodyPr wrap="square" lIns="0" tIns="0" rIns="0" bIns="0" rtlCol="0" anchor="t"/>
          <a:lstStyle/>
          <a:p>
            <a:pPr marL="0" indent="0">
              <a:lnSpc>
                <a:spcPts val="1800"/>
              </a:lnSpc>
              <a:buNone/>
            </a:pPr>
            <a:r>
              <a:rPr lang="en-US" sz="1300" b="1" dirty="0">
                <a:solidFill>
                  <a:srgbClr val="FFFFFF"/>
                </a:solidFill>
                <a:latin typeface="Calibri" pitchFamily="34" charset="0"/>
                <a:ea typeface="Calibri" pitchFamily="34" charset="-122"/>
                <a:cs typeface="Calibri" pitchFamily="34" charset="-120"/>
              </a:rPr>
              <a:t>a typed interface, for good</a:t>
            </a:r>
            <a:endParaRPr lang="en-US" sz="1300" dirty="0"/>
          </a:p>
        </p:txBody>
      </p:sp>
      <p:sp>
        <p:nvSpPr>
          <p:cNvPr id="25" name="Text 23"/>
          <p:cNvSpPr/>
          <p:nvPr/>
        </p:nvSpPr>
        <p:spPr>
          <a:xfrm>
            <a:off x="822960" y="5989320"/>
            <a:ext cx="10515600" cy="457200"/>
          </a:xfrm>
          <a:prstGeom prst="rect">
            <a:avLst/>
          </a:prstGeom>
          <a:noFill/>
          <a:ln/>
        </p:spPr>
        <p:txBody>
          <a:bodyPr wrap="square" lIns="0" tIns="0" rIns="0" bIns="0" rtlCol="0" anchor="ctr"/>
          <a:lstStyle/>
          <a:p>
            <a:pPr marL="0" indent="0">
              <a:lnSpc>
                <a:spcPts val="1800"/>
              </a:lnSpc>
              <a:buNone/>
            </a:pPr>
            <a:r>
              <a:rPr lang="en-US" sz="1300" b="1" dirty="0">
                <a:solidFill>
                  <a:srgbClr val="D8CFD6"/>
                </a:solidFill>
                <a:latin typeface="Calibri" pitchFamily="34" charset="0"/>
                <a:ea typeface="Calibri" pitchFamily="34" charset="-122"/>
                <a:cs typeface="Calibri" pitchFamily="34" charset="-120"/>
              </a:rPr>
              <a:t>“Apify already generates typed tools.”  </a:t>
            </a:r>
            <a:r>
              <a:rPr lang="en-US" sz="1300" dirty="0">
                <a:solidFill>
                  <a:srgbClr val="6E646D"/>
                </a:solidFill>
                <a:latin typeface="Calibri" pitchFamily="34" charset="0"/>
                <a:ea typeface="Calibri" pitchFamily="34" charset="-122"/>
                <a:cs typeface="Calibri" pitchFamily="34" charset="-120"/>
              </a:rPr>
              <a:t>It does — from Actor input schemas a human wrote. Apify auto-generates the wrapper around a hand-authored contract. apic derives the contract itself, by operating the app.</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509"/>
        </a:solidFill>
        <a:effectLst/>
      </p:bgPr>
    </p:bg>
    <p:spTree>
      <p:nvGrpSpPr>
        <p:cNvPr id="1" name=""/>
        <p:cNvGrpSpPr/>
        <p:nvPr/>
      </p:nvGrpSpPr>
      <p:grpSpPr>
        <a:xfrm>
          <a:off x="0" y="0"/>
          <a:ext cx="0" cy="0"/>
          <a:chOff x="0" y="0"/>
          <a:chExt cx="0" cy="0"/>
        </a:xfrm>
      </p:grpSpPr>
      <p:sp>
        <p:nvSpPr>
          <p:cNvPr id="2" name="Text 0"/>
          <p:cNvSpPr/>
          <p:nvPr/>
        </p:nvSpPr>
        <p:spPr>
          <a:xfrm>
            <a:off x="822960" y="685800"/>
            <a:ext cx="10515600" cy="731520"/>
          </a:xfrm>
          <a:prstGeom prst="rect">
            <a:avLst/>
          </a:prstGeom>
          <a:noFill/>
          <a:ln/>
        </p:spPr>
        <p:txBody>
          <a:bodyPr wrap="square" lIns="0" tIns="0" rIns="0" bIns="0" rtlCol="0" anchor="ctr"/>
          <a:lstStyle/>
          <a:p>
            <a:pPr marL="0" indent="0">
              <a:buNone/>
            </a:pPr>
            <a:r>
              <a:rPr lang="en-US" sz="3400" b="1" kern="0" spc="-100" dirty="0">
                <a:solidFill>
                  <a:srgbClr val="FFFFFF"/>
                </a:solidFill>
                <a:latin typeface="Arial" pitchFamily="34" charset="0"/>
                <a:ea typeface="Arial" pitchFamily="34" charset="-122"/>
                <a:cs typeface="Arial" pitchFamily="34" charset="-120"/>
              </a:rPr>
              <a:t>The model leaves the hot path.</a:t>
            </a:r>
            <a:endParaRPr lang="en-US" sz="3400" dirty="0"/>
          </a:p>
        </p:txBody>
      </p:sp>
      <p:sp>
        <p:nvSpPr>
          <p:cNvPr id="3" name="Text 1"/>
          <p:cNvSpPr/>
          <p:nvPr/>
        </p:nvSpPr>
        <p:spPr>
          <a:xfrm>
            <a:off x="822960" y="1463040"/>
            <a:ext cx="10515600" cy="365760"/>
          </a:xfrm>
          <a:prstGeom prst="rect">
            <a:avLst/>
          </a:prstGeom>
          <a:noFill/>
          <a:ln/>
        </p:spPr>
        <p:txBody>
          <a:bodyPr wrap="square" lIns="0" tIns="0" rIns="0" bIns="0" rtlCol="0" anchor="ctr"/>
          <a:lstStyle/>
          <a:p>
            <a:pPr marL="0" indent="0">
              <a:buNone/>
            </a:pPr>
            <a:r>
              <a:rPr lang="en-US" sz="1500" dirty="0">
                <a:solidFill>
                  <a:srgbClr val="9B909A"/>
                </a:solidFill>
                <a:latin typeface="Calibri" pitchFamily="34" charset="0"/>
                <a:ea typeface="Calibri" pitchFamily="34" charset="-122"/>
                <a:cs typeface="Calibri" pitchFamily="34" charset="-120"/>
              </a:rPr>
              <a:t>Same task, same app, three repetitions. Both lanes created 3 of 3.</a:t>
            </a:r>
            <a:endParaRPr lang="en-US" sz="1500" dirty="0"/>
          </a:p>
        </p:txBody>
      </p:sp>
      <p:sp>
        <p:nvSpPr>
          <p:cNvPr id="4" name="Shape 2"/>
          <p:cNvSpPr/>
          <p:nvPr/>
        </p:nvSpPr>
        <p:spPr>
          <a:xfrm>
            <a:off x="822960" y="2148840"/>
            <a:ext cx="5029200" cy="2606040"/>
          </a:xfrm>
          <a:prstGeom prst="roundRect">
            <a:avLst>
              <a:gd name="adj" fmla="val 4912"/>
            </a:avLst>
          </a:prstGeom>
          <a:solidFill>
            <a:srgbClr val="140B12"/>
          </a:solidFill>
          <a:ln w="12700">
            <a:solidFill>
              <a:srgbClr val="2A1E27"/>
            </a:solidFill>
            <a:prstDash val="solid"/>
          </a:ln>
        </p:spPr>
        <p:txBody>
          <a:bodyPr/>
          <a:lstStyle/>
          <a:p>
            <a:endParaRPr lang="en-US"/>
          </a:p>
        </p:txBody>
      </p:sp>
      <p:sp>
        <p:nvSpPr>
          <p:cNvPr id="5" name="Text 3"/>
          <p:cNvSpPr/>
          <p:nvPr/>
        </p:nvSpPr>
        <p:spPr>
          <a:xfrm>
            <a:off x="1143000" y="2468880"/>
            <a:ext cx="4389120" cy="1188720"/>
          </a:xfrm>
          <a:prstGeom prst="rect">
            <a:avLst/>
          </a:prstGeom>
          <a:noFill/>
          <a:ln/>
        </p:spPr>
        <p:txBody>
          <a:bodyPr wrap="square" lIns="0" tIns="0" rIns="0" bIns="0" rtlCol="0" anchor="ctr"/>
          <a:lstStyle/>
          <a:p>
            <a:pPr marL="0" indent="0">
              <a:buNone/>
            </a:pPr>
            <a:r>
              <a:rPr lang="en-US" sz="4000" b="1" strike="sngStrike" kern="0" spc="-100" dirty="0">
                <a:solidFill>
                  <a:srgbClr val="6E646D"/>
                </a:solidFill>
                <a:latin typeface="Arial" pitchFamily="34" charset="0"/>
                <a:ea typeface="Arial" pitchFamily="34" charset="-122"/>
                <a:cs typeface="Arial" pitchFamily="34" charset="-120"/>
              </a:rPr>
              <a:t>6</a:t>
            </a:r>
            <a:r>
              <a:rPr lang="en-US" sz="2800" b="1" kern="0" spc="-100" dirty="0">
                <a:solidFill>
                  <a:srgbClr val="6E646D"/>
                </a:solidFill>
                <a:latin typeface="Arial" pitchFamily="34" charset="0"/>
                <a:ea typeface="Arial" pitchFamily="34" charset="-122"/>
                <a:cs typeface="Arial" pitchFamily="34" charset="-120"/>
              </a:rPr>
              <a:t>   →   </a:t>
            </a:r>
            <a:r>
              <a:rPr lang="en-US" sz="6400" b="1" kern="0" spc="-100" dirty="0">
                <a:solidFill>
                  <a:srgbClr val="FF6E28"/>
                </a:solidFill>
                <a:latin typeface="Arial" pitchFamily="34" charset="0"/>
                <a:ea typeface="Arial" pitchFamily="34" charset="-122"/>
                <a:cs typeface="Arial" pitchFamily="34" charset="-120"/>
              </a:rPr>
              <a:t>0</a:t>
            </a:r>
            <a:endParaRPr lang="en-US" sz="4000" dirty="0"/>
          </a:p>
        </p:txBody>
      </p:sp>
      <p:sp>
        <p:nvSpPr>
          <p:cNvPr id="6" name="Text 4"/>
          <p:cNvSpPr/>
          <p:nvPr/>
        </p:nvSpPr>
        <p:spPr>
          <a:xfrm>
            <a:off x="1143000" y="3749040"/>
            <a:ext cx="4389120" cy="365760"/>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model round-trips</a:t>
            </a:r>
            <a:endParaRPr lang="en-US" sz="1700" dirty="0"/>
          </a:p>
        </p:txBody>
      </p:sp>
      <p:sp>
        <p:nvSpPr>
          <p:cNvPr id="7" name="Text 5"/>
          <p:cNvSpPr/>
          <p:nvPr/>
        </p:nvSpPr>
        <p:spPr>
          <a:xfrm>
            <a:off x="1143000" y="4114800"/>
            <a:ext cx="4389120" cy="365760"/>
          </a:xfrm>
          <a:prstGeom prst="rect">
            <a:avLst/>
          </a:prstGeom>
          <a:noFill/>
          <a:ln/>
        </p:spPr>
        <p:txBody>
          <a:bodyPr wrap="square" lIns="0" tIns="0" rIns="0" bIns="0" rtlCol="0" anchor="ctr"/>
          <a:lstStyle/>
          <a:p>
            <a:pPr marL="0" indent="0">
              <a:buNone/>
            </a:pPr>
            <a:r>
              <a:rPr lang="en-US" sz="1200" dirty="0">
                <a:solidFill>
                  <a:srgbClr val="6E646D"/>
                </a:solidFill>
                <a:latin typeface="Calibri" pitchFamily="34" charset="0"/>
                <a:ea typeface="Calibri" pitchFamily="34" charset="-122"/>
                <a:cs typeface="Calibri" pitchFamily="34" charset="-120"/>
              </a:rPr>
              <a:t>computer-use → compiled</a:t>
            </a:r>
            <a:endParaRPr lang="en-US" sz="1200" dirty="0"/>
          </a:p>
        </p:txBody>
      </p:sp>
      <p:sp>
        <p:nvSpPr>
          <p:cNvPr id="8" name="Shape 6"/>
          <p:cNvSpPr/>
          <p:nvPr/>
        </p:nvSpPr>
        <p:spPr>
          <a:xfrm>
            <a:off x="6217920" y="2148840"/>
            <a:ext cx="5029200" cy="2606040"/>
          </a:xfrm>
          <a:prstGeom prst="roundRect">
            <a:avLst>
              <a:gd name="adj" fmla="val 4912"/>
            </a:avLst>
          </a:prstGeom>
          <a:solidFill>
            <a:srgbClr val="140B12"/>
          </a:solidFill>
          <a:ln w="12700">
            <a:solidFill>
              <a:srgbClr val="2A1E27"/>
            </a:solidFill>
            <a:prstDash val="solid"/>
          </a:ln>
        </p:spPr>
        <p:txBody>
          <a:bodyPr/>
          <a:lstStyle/>
          <a:p>
            <a:endParaRPr lang="en-US"/>
          </a:p>
        </p:txBody>
      </p:sp>
      <p:sp>
        <p:nvSpPr>
          <p:cNvPr id="9" name="Text 7"/>
          <p:cNvSpPr/>
          <p:nvPr/>
        </p:nvSpPr>
        <p:spPr>
          <a:xfrm>
            <a:off x="6537960" y="2468880"/>
            <a:ext cx="4389120" cy="1188720"/>
          </a:xfrm>
          <a:prstGeom prst="rect">
            <a:avLst/>
          </a:prstGeom>
          <a:noFill/>
          <a:ln/>
        </p:spPr>
        <p:txBody>
          <a:bodyPr wrap="square" lIns="0" tIns="0" rIns="0" bIns="0" rtlCol="0" anchor="ctr"/>
          <a:lstStyle/>
          <a:p>
            <a:pPr marL="0" indent="0">
              <a:buNone/>
            </a:pPr>
            <a:r>
              <a:rPr lang="en-US" sz="4000" b="1" strike="sngStrike" kern="0" spc="-100" dirty="0">
                <a:solidFill>
                  <a:srgbClr val="6E646D"/>
                </a:solidFill>
                <a:latin typeface="Arial" pitchFamily="34" charset="0"/>
                <a:ea typeface="Arial" pitchFamily="34" charset="-122"/>
                <a:cs typeface="Arial" pitchFamily="34" charset="-120"/>
              </a:rPr>
              <a:t>16,693</a:t>
            </a:r>
            <a:r>
              <a:rPr lang="en-US" sz="2800" b="1" kern="0" spc="-100" dirty="0">
                <a:solidFill>
                  <a:srgbClr val="6E646D"/>
                </a:solidFill>
                <a:latin typeface="Arial" pitchFamily="34" charset="0"/>
                <a:ea typeface="Arial" pitchFamily="34" charset="-122"/>
                <a:cs typeface="Arial" pitchFamily="34" charset="-120"/>
              </a:rPr>
              <a:t>   →   </a:t>
            </a:r>
            <a:r>
              <a:rPr lang="en-US" sz="6400" b="1" kern="0" spc="-100" dirty="0">
                <a:solidFill>
                  <a:srgbClr val="FF6E28"/>
                </a:solidFill>
                <a:latin typeface="Arial" pitchFamily="34" charset="0"/>
                <a:ea typeface="Arial" pitchFamily="34" charset="-122"/>
                <a:cs typeface="Arial" pitchFamily="34" charset="-120"/>
              </a:rPr>
              <a:t>0</a:t>
            </a:r>
            <a:endParaRPr lang="en-US" sz="4000" dirty="0"/>
          </a:p>
        </p:txBody>
      </p:sp>
      <p:sp>
        <p:nvSpPr>
          <p:cNvPr id="10" name="Text 8"/>
          <p:cNvSpPr/>
          <p:nvPr/>
        </p:nvSpPr>
        <p:spPr>
          <a:xfrm>
            <a:off x="6537960" y="3749040"/>
            <a:ext cx="4389120" cy="365760"/>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tokens</a:t>
            </a:r>
            <a:endParaRPr lang="en-US" sz="1700" dirty="0"/>
          </a:p>
        </p:txBody>
      </p:sp>
      <p:sp>
        <p:nvSpPr>
          <p:cNvPr id="11" name="Text 9"/>
          <p:cNvSpPr/>
          <p:nvPr/>
        </p:nvSpPr>
        <p:spPr>
          <a:xfrm>
            <a:off x="6537960" y="4114800"/>
            <a:ext cx="4389120" cy="365760"/>
          </a:xfrm>
          <a:prstGeom prst="rect">
            <a:avLst/>
          </a:prstGeom>
          <a:noFill/>
          <a:ln/>
        </p:spPr>
        <p:txBody>
          <a:bodyPr wrap="square" lIns="0" tIns="0" rIns="0" bIns="0" rtlCol="0" anchor="ctr"/>
          <a:lstStyle/>
          <a:p>
            <a:pPr marL="0" indent="0">
              <a:buNone/>
            </a:pPr>
            <a:r>
              <a:rPr lang="en-US" sz="1200" dirty="0">
                <a:solidFill>
                  <a:srgbClr val="6E646D"/>
                </a:solidFill>
                <a:latin typeface="Calibri" pitchFamily="34" charset="0"/>
                <a:ea typeface="Calibri" pitchFamily="34" charset="-122"/>
                <a:cs typeface="Calibri" pitchFamily="34" charset="-120"/>
              </a:rPr>
              <a:t>per run of the same action</a:t>
            </a:r>
            <a:endParaRPr lang="en-US" sz="1200" dirty="0"/>
          </a:p>
        </p:txBody>
      </p:sp>
      <p:sp>
        <p:nvSpPr>
          <p:cNvPr id="12" name="Text 10"/>
          <p:cNvSpPr/>
          <p:nvPr/>
        </p:nvSpPr>
        <p:spPr>
          <a:xfrm>
            <a:off x="822960" y="5120640"/>
            <a:ext cx="10515600" cy="914400"/>
          </a:xfrm>
          <a:prstGeom prst="rect">
            <a:avLst/>
          </a:prstGeom>
          <a:noFill/>
          <a:ln/>
        </p:spPr>
        <p:txBody>
          <a:bodyPr wrap="square" lIns="0" tIns="0" rIns="0" bIns="0" rtlCol="0" anchor="ctr"/>
          <a:lstStyle/>
          <a:p>
            <a:pPr marL="0" indent="0">
              <a:lnSpc>
                <a:spcPts val="1900"/>
              </a:lnSpc>
              <a:buNone/>
            </a:pPr>
            <a:r>
              <a:rPr lang="en-US" sz="1300" b="1" dirty="0">
                <a:solidFill>
                  <a:srgbClr val="D8CFD6"/>
                </a:solidFill>
                <a:latin typeface="Calibri" pitchFamily="34" charset="0"/>
                <a:ea typeface="Calibri" pitchFamily="34" charset="-122"/>
                <a:cs typeface="Calibri" pitchFamily="34" charset="-120"/>
              </a:rPr>
              <a:t>The zero is the result — not a speed multiple. </a:t>
            </a:r>
            <a:r>
              <a:rPr lang="en-US" sz="1300" dirty="0">
                <a:solidFill>
                  <a:srgbClr val="6E646D"/>
                </a:solidFill>
                <a:latin typeface="Calibri" pitchFamily="34" charset="0"/>
                <a:ea typeface="Calibri" pitchFamily="34" charset="-122"/>
                <a:cs typeface="Calibri" pitchFamily="34" charset="-120"/>
              </a:rPr>
              <a:t>Wall-clock swung 1.3× to 9.4× across runs, because on localhost the browser dominates both lanes. The zero is structural: there is no model in the compiled path, and it stays zero as the run count rises while the left-hand column scales linearly.</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509"/>
        </a:solidFill>
        <a:effectLst/>
      </p:bgPr>
    </p:bg>
    <p:spTree>
      <p:nvGrpSpPr>
        <p:cNvPr id="1" name=""/>
        <p:cNvGrpSpPr/>
        <p:nvPr/>
      </p:nvGrpSpPr>
      <p:grpSpPr>
        <a:xfrm>
          <a:off x="0" y="0"/>
          <a:ext cx="0" cy="0"/>
          <a:chOff x="0" y="0"/>
          <a:chExt cx="0" cy="0"/>
        </a:xfrm>
      </p:grpSpPr>
      <p:sp>
        <p:nvSpPr>
          <p:cNvPr id="2" name="Shape 0"/>
          <p:cNvSpPr/>
          <p:nvPr/>
        </p:nvSpPr>
        <p:spPr>
          <a:xfrm>
            <a:off x="822960" y="1143000"/>
            <a:ext cx="1371600" cy="1371600"/>
          </a:xfrm>
          <a:prstGeom prst="roundRect">
            <a:avLst>
              <a:gd name="adj" fmla="val 12000"/>
            </a:avLst>
          </a:prstGeom>
          <a:solidFill>
            <a:srgbClr val="140B12"/>
          </a:solidFill>
          <a:ln w="12700">
            <a:solidFill>
              <a:srgbClr val="2A1E27"/>
            </a:solidFill>
            <a:prstDash val="solid"/>
          </a:ln>
        </p:spPr>
        <p:txBody>
          <a:bodyPr/>
          <a:lstStyle/>
          <a:p>
            <a:endParaRPr lang="en-US"/>
          </a:p>
        </p:txBody>
      </p:sp>
      <p:pic>
        <p:nvPicPr>
          <p:cNvPr id="3" name="Image 0" descr="/private/tmp/claude-501/-Users-brwbo/af21f834-8748-4b21-a72f-e5d01be37e45/scratchpad/logos/h.png"/>
          <p:cNvPicPr>
            <a:picLocks noChangeAspect="1"/>
          </p:cNvPicPr>
          <p:nvPr/>
        </p:nvPicPr>
        <p:blipFill>
          <a:blip r:embed="rId3"/>
          <a:srcRect/>
          <a:stretch/>
        </p:blipFill>
        <p:spPr>
          <a:xfrm>
            <a:off x="1133856" y="1481328"/>
            <a:ext cx="749808" cy="694944"/>
          </a:xfrm>
          <a:prstGeom prst="rect">
            <a:avLst/>
          </a:prstGeom>
        </p:spPr>
      </p:pic>
      <p:sp>
        <p:nvSpPr>
          <p:cNvPr id="4" name="Text 1"/>
          <p:cNvSpPr/>
          <p:nvPr/>
        </p:nvSpPr>
        <p:spPr>
          <a:xfrm>
            <a:off x="822960" y="2697480"/>
            <a:ext cx="2743200" cy="365760"/>
          </a:xfrm>
          <a:prstGeom prst="rect">
            <a:avLst/>
          </a:prstGeom>
          <a:noFill/>
          <a:ln/>
        </p:spPr>
        <p:txBody>
          <a:bodyPr wrap="square" lIns="0" tIns="0" rIns="0" bIns="0" rtlCol="0" anchor="ctr"/>
          <a:lstStyle/>
          <a:p>
            <a:pPr marL="0" indent="0">
              <a:buNone/>
            </a:pPr>
            <a:r>
              <a:rPr lang="en-US" sz="2000" b="1" dirty="0">
                <a:solidFill>
                  <a:srgbClr val="FFFFFF"/>
                </a:solidFill>
                <a:latin typeface="Arial" pitchFamily="34" charset="0"/>
                <a:ea typeface="Arial" pitchFamily="34" charset="-122"/>
                <a:cs typeface="Arial" pitchFamily="34" charset="-120"/>
              </a:rPr>
              <a:t>h</a:t>
            </a:r>
            <a:endParaRPr lang="en-US" sz="2000" dirty="0"/>
          </a:p>
        </p:txBody>
      </p:sp>
      <p:sp>
        <p:nvSpPr>
          <p:cNvPr id="5" name="Text 2"/>
          <p:cNvSpPr/>
          <p:nvPr/>
        </p:nvSpPr>
        <p:spPr>
          <a:xfrm>
            <a:off x="822960" y="3090672"/>
            <a:ext cx="2743200" cy="320040"/>
          </a:xfrm>
          <a:prstGeom prst="rect">
            <a:avLst/>
          </a:prstGeom>
          <a:noFill/>
          <a:ln/>
        </p:spPr>
        <p:txBody>
          <a:bodyPr wrap="square" lIns="0" tIns="0" rIns="0" bIns="0" rtlCol="0" anchor="ctr"/>
          <a:lstStyle/>
          <a:p>
            <a:pPr marL="0" indent="0">
              <a:buNone/>
            </a:pPr>
            <a:r>
              <a:rPr lang="en-US" sz="1200" dirty="0">
                <a:solidFill>
                  <a:srgbClr val="FF6E28"/>
                </a:solidFill>
                <a:latin typeface="Courier New" pitchFamily="34" charset="0"/>
                <a:ea typeface="Courier New" pitchFamily="34" charset="-122"/>
                <a:cs typeface="Courier New" pitchFamily="34" charset="-120"/>
              </a:rPr>
              <a:t>explore</a:t>
            </a:r>
            <a:endParaRPr lang="en-US" sz="1200" dirty="0"/>
          </a:p>
        </p:txBody>
      </p:sp>
      <p:sp>
        <p:nvSpPr>
          <p:cNvPr id="6" name="Text 3"/>
          <p:cNvSpPr/>
          <p:nvPr/>
        </p:nvSpPr>
        <p:spPr>
          <a:xfrm>
            <a:off x="4206240" y="1051560"/>
            <a:ext cx="7223760" cy="777240"/>
          </a:xfrm>
          <a:prstGeom prst="rect">
            <a:avLst/>
          </a:prstGeom>
          <a:noFill/>
          <a:ln/>
        </p:spPr>
        <p:txBody>
          <a:bodyPr wrap="square" lIns="0" tIns="0" rIns="0" bIns="0" rtlCol="0" anchor="ctr"/>
          <a:lstStyle/>
          <a:p>
            <a:pPr marL="0" indent="0">
              <a:buNone/>
            </a:pPr>
            <a:r>
              <a:rPr lang="en-US" sz="3200" b="1" kern="0" spc="-100" dirty="0">
                <a:solidFill>
                  <a:srgbClr val="FFFFFF"/>
                </a:solidFill>
                <a:latin typeface="Arial" pitchFamily="34" charset="0"/>
                <a:ea typeface="Arial" pitchFamily="34" charset="-122"/>
                <a:cs typeface="Arial" pitchFamily="34" charset="-120"/>
              </a:rPr>
              <a:t>Reads the buttons apic could not.</a:t>
            </a:r>
            <a:endParaRPr lang="en-US" sz="3200" dirty="0"/>
          </a:p>
        </p:txBody>
      </p:sp>
      <p:sp>
        <p:nvSpPr>
          <p:cNvPr id="7" name="Text 4"/>
          <p:cNvSpPr/>
          <p:nvPr/>
        </p:nvSpPr>
        <p:spPr>
          <a:xfrm>
            <a:off x="4206240" y="1965960"/>
            <a:ext cx="7223760" cy="1234440"/>
          </a:xfrm>
          <a:prstGeom prst="rect">
            <a:avLst/>
          </a:prstGeom>
          <a:noFill/>
          <a:ln/>
        </p:spPr>
        <p:txBody>
          <a:bodyPr wrap="square" lIns="0" tIns="0" rIns="0" bIns="0" rtlCol="0" anchor="ctr"/>
          <a:lstStyle/>
          <a:p>
            <a:pPr marL="0" indent="0">
              <a:lnSpc>
                <a:spcPts val="2400"/>
              </a:lnSpc>
              <a:buNone/>
            </a:pPr>
            <a:r>
              <a:rPr lang="en-US" sz="1600" dirty="0">
                <a:solidFill>
                  <a:srgbClr val="9B909A"/>
                </a:solidFill>
                <a:latin typeface="Calibri" pitchFamily="34" charset="0"/>
                <a:ea typeface="Calibri" pitchFamily="34" charset="-122"/>
                <a:cs typeface="Calibri" pitchFamily="34" charset="-120"/>
              </a:rPr>
              <a:t>Anything with no usable label - an icon-only button - goes to h with a screenshot of the page. Its answers are checked against the vocabulary apic already uses, so it can rescue a control but never invent a new kind of action.</a:t>
            </a:r>
            <a:endParaRPr lang="en-US" sz="1600" dirty="0"/>
          </a:p>
        </p:txBody>
      </p:sp>
      <p:sp>
        <p:nvSpPr>
          <p:cNvPr id="8" name="Text 5"/>
          <p:cNvSpPr/>
          <p:nvPr/>
        </p:nvSpPr>
        <p:spPr>
          <a:xfrm>
            <a:off x="4206240" y="3310128"/>
            <a:ext cx="7223760" cy="320040"/>
          </a:xfrm>
          <a:prstGeom prst="rect">
            <a:avLst/>
          </a:prstGeom>
          <a:noFill/>
          <a:ln/>
        </p:spPr>
        <p:txBody>
          <a:bodyPr wrap="square" lIns="0" tIns="0" rIns="0" bIns="0" rtlCol="0" anchor="ctr"/>
          <a:lstStyle/>
          <a:p>
            <a:pPr marL="0" indent="0">
              <a:buNone/>
            </a:pPr>
            <a:r>
              <a:rPr lang="en-US" sz="1100" dirty="0">
                <a:solidFill>
                  <a:srgbClr val="6E646D"/>
                </a:solidFill>
                <a:latin typeface="Courier New" pitchFamily="34" charset="0"/>
                <a:ea typeface="Courier New" pitchFamily="34" charset="-122"/>
                <a:cs typeface="Courier New" pitchFamily="34" charset="-120"/>
              </a:rPr>
              <a:t>holo3-1-35b-a3b · one JPEG of the page per seed</a:t>
            </a:r>
            <a:endParaRPr lang="en-US" sz="1100" dirty="0"/>
          </a:p>
        </p:txBody>
      </p:sp>
      <p:sp>
        <p:nvSpPr>
          <p:cNvPr id="9" name="Shape 6"/>
          <p:cNvSpPr/>
          <p:nvPr/>
        </p:nvSpPr>
        <p:spPr>
          <a:xfrm>
            <a:off x="4206240" y="3886200"/>
            <a:ext cx="7223760" cy="1234440"/>
          </a:xfrm>
          <a:prstGeom prst="roundRect">
            <a:avLst>
              <a:gd name="adj" fmla="val 7407"/>
            </a:avLst>
          </a:prstGeom>
          <a:solidFill>
            <a:srgbClr val="140B12"/>
          </a:solidFill>
          <a:ln w="12700">
            <a:solidFill>
              <a:srgbClr val="2A1E27"/>
            </a:solidFill>
            <a:prstDash val="solid"/>
          </a:ln>
        </p:spPr>
        <p:txBody>
          <a:bodyPr/>
          <a:lstStyle/>
          <a:p>
            <a:endParaRPr lang="en-US"/>
          </a:p>
        </p:txBody>
      </p:sp>
      <p:sp>
        <p:nvSpPr>
          <p:cNvPr id="10" name="Text 7"/>
          <p:cNvSpPr/>
          <p:nvPr/>
        </p:nvSpPr>
        <p:spPr>
          <a:xfrm>
            <a:off x="4480560" y="4041648"/>
            <a:ext cx="6675120" cy="914400"/>
          </a:xfrm>
          <a:prstGeom prst="rect">
            <a:avLst/>
          </a:prstGeom>
          <a:noFill/>
          <a:ln/>
        </p:spPr>
        <p:txBody>
          <a:bodyPr wrap="square" lIns="0" tIns="0" rIns="0" bIns="0" rtlCol="0" anchor="ctr"/>
          <a:lstStyle/>
          <a:p>
            <a:pPr marL="0" indent="0">
              <a:lnSpc>
                <a:spcPts val="2200"/>
              </a:lnSpc>
              <a:buNone/>
            </a:pPr>
            <a:r>
              <a:rPr lang="en-US" sz="1500" dirty="0">
                <a:solidFill>
                  <a:srgbClr val="D8CFD6"/>
                </a:solidFill>
                <a:latin typeface="Calibri" pitchFamily="34" charset="0"/>
                <a:ea typeface="Calibri" pitchFamily="34" charset="-122"/>
                <a:cs typeface="Calibri" pitchFamily="34" charset="-120"/>
              </a:rPr>
              <a:t>On Vikunja: shown 3 unreadable controls, correctly named 1 - an icon-only Kanban column control.</a:t>
            </a:r>
            <a:endParaRPr lang="en-US" sz="1500" dirty="0"/>
          </a:p>
        </p:txBody>
      </p:sp>
      <p:sp>
        <p:nvSpPr>
          <p:cNvPr id="11" name="Text 8"/>
          <p:cNvSpPr/>
          <p:nvPr/>
        </p:nvSpPr>
        <p:spPr>
          <a:xfrm>
            <a:off x="4206240" y="5394960"/>
            <a:ext cx="7223760" cy="457200"/>
          </a:xfrm>
          <a:prstGeom prst="rect">
            <a:avLst/>
          </a:prstGeom>
          <a:noFill/>
          <a:ln/>
        </p:spPr>
        <p:txBody>
          <a:bodyPr wrap="square" lIns="0" tIns="0" rIns="0" bIns="0" rtlCol="0" anchor="ctr"/>
          <a:lstStyle/>
          <a:p>
            <a:pPr marL="0" indent="0">
              <a:buNone/>
            </a:pPr>
            <a:r>
              <a:rPr lang="en-US" sz="1300" dirty="0">
                <a:solidFill>
                  <a:srgbClr val="6E646D"/>
                </a:solidFill>
                <a:latin typeface="Calibri" pitchFamily="34" charset="0"/>
                <a:ea typeface="Calibri" pitchFamily="34" charset="-122"/>
                <a:cs typeface="Calibri" pitchFamily="34" charset="-120"/>
              </a:rPr>
              <a:t>Without it — </a:t>
            </a:r>
            <a:r>
              <a:rPr lang="en-US" sz="1300" dirty="0">
                <a:solidFill>
                  <a:srgbClr val="5C525B"/>
                </a:solidFill>
                <a:latin typeface="Calibri" pitchFamily="34" charset="0"/>
                <a:ea typeface="Calibri" pitchFamily="34" charset="-122"/>
                <a:cs typeface="Calibri" pitchFamily="34" charset="-120"/>
              </a:rPr>
              <a:t>Any button apic cannot read from its label is simply skipped.</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509"/>
        </a:solidFill>
        <a:effectLst/>
      </p:bgPr>
    </p:bg>
    <p:spTree>
      <p:nvGrpSpPr>
        <p:cNvPr id="1" name=""/>
        <p:cNvGrpSpPr/>
        <p:nvPr/>
      </p:nvGrpSpPr>
      <p:grpSpPr>
        <a:xfrm>
          <a:off x="0" y="0"/>
          <a:ext cx="0" cy="0"/>
          <a:chOff x="0" y="0"/>
          <a:chExt cx="0" cy="0"/>
        </a:xfrm>
      </p:grpSpPr>
      <p:sp>
        <p:nvSpPr>
          <p:cNvPr id="2" name="Shape 0"/>
          <p:cNvSpPr/>
          <p:nvPr/>
        </p:nvSpPr>
        <p:spPr>
          <a:xfrm>
            <a:off x="822960" y="1143000"/>
            <a:ext cx="1371600" cy="1371600"/>
          </a:xfrm>
          <a:prstGeom prst="roundRect">
            <a:avLst>
              <a:gd name="adj" fmla="val 12000"/>
            </a:avLst>
          </a:prstGeom>
          <a:solidFill>
            <a:srgbClr val="140B12"/>
          </a:solidFill>
          <a:ln w="12700">
            <a:solidFill>
              <a:srgbClr val="2A1E27"/>
            </a:solidFill>
            <a:prstDash val="solid"/>
          </a:ln>
        </p:spPr>
        <p:txBody>
          <a:bodyPr/>
          <a:lstStyle/>
          <a:p>
            <a:endParaRPr lang="en-US"/>
          </a:p>
        </p:txBody>
      </p:sp>
      <p:pic>
        <p:nvPicPr>
          <p:cNvPr id="3" name="Image 0" descr="/private/tmp/claude-501/-Users-brwbo/af21f834-8748-4b21-a72f-e5d01be37e45/scratchpad/logos/fal.png"/>
          <p:cNvPicPr>
            <a:picLocks noChangeAspect="1"/>
          </p:cNvPicPr>
          <p:nvPr/>
        </p:nvPicPr>
        <p:blipFill>
          <a:blip r:embed="rId3"/>
          <a:srcRect/>
          <a:stretch/>
        </p:blipFill>
        <p:spPr>
          <a:xfrm>
            <a:off x="1133856" y="1481328"/>
            <a:ext cx="749808" cy="694944"/>
          </a:xfrm>
          <a:prstGeom prst="rect">
            <a:avLst/>
          </a:prstGeom>
        </p:spPr>
      </p:pic>
      <p:sp>
        <p:nvSpPr>
          <p:cNvPr id="4" name="Text 1"/>
          <p:cNvSpPr/>
          <p:nvPr/>
        </p:nvSpPr>
        <p:spPr>
          <a:xfrm>
            <a:off x="822960" y="2697480"/>
            <a:ext cx="2743200" cy="365760"/>
          </a:xfrm>
          <a:prstGeom prst="rect">
            <a:avLst/>
          </a:prstGeom>
          <a:noFill/>
          <a:ln/>
        </p:spPr>
        <p:txBody>
          <a:bodyPr wrap="square" lIns="0" tIns="0" rIns="0" bIns="0" rtlCol="0" anchor="ctr"/>
          <a:lstStyle/>
          <a:p>
            <a:pPr marL="0" indent="0">
              <a:buNone/>
            </a:pPr>
            <a:r>
              <a:rPr lang="en-US" sz="2000" b="1" dirty="0">
                <a:solidFill>
                  <a:srgbClr val="FFFFFF"/>
                </a:solidFill>
                <a:latin typeface="Arial" pitchFamily="34" charset="0"/>
                <a:ea typeface="Arial" pitchFamily="34" charset="-122"/>
                <a:cs typeface="Arial" pitchFamily="34" charset="-120"/>
              </a:rPr>
              <a:t>fal</a:t>
            </a:r>
            <a:endParaRPr lang="en-US" sz="2000" dirty="0"/>
          </a:p>
        </p:txBody>
      </p:sp>
      <p:sp>
        <p:nvSpPr>
          <p:cNvPr id="5" name="Text 2"/>
          <p:cNvSpPr/>
          <p:nvPr/>
        </p:nvSpPr>
        <p:spPr>
          <a:xfrm>
            <a:off x="822960" y="3090672"/>
            <a:ext cx="2743200" cy="320040"/>
          </a:xfrm>
          <a:prstGeom prst="rect">
            <a:avLst/>
          </a:prstGeom>
          <a:noFill/>
          <a:ln/>
        </p:spPr>
        <p:txBody>
          <a:bodyPr wrap="square" lIns="0" tIns="0" rIns="0" bIns="0" rtlCol="0" anchor="ctr"/>
          <a:lstStyle/>
          <a:p>
            <a:pPr marL="0" indent="0">
              <a:buNone/>
            </a:pPr>
            <a:r>
              <a:rPr lang="en-US" sz="1200" dirty="0">
                <a:solidFill>
                  <a:srgbClr val="FF6E28"/>
                </a:solidFill>
                <a:latin typeface="Courier New" pitchFamily="34" charset="0"/>
                <a:ea typeface="Courier New" pitchFamily="34" charset="-122"/>
                <a:cs typeface="Courier New" pitchFamily="34" charset="-120"/>
              </a:rPr>
              <a:t>perceive</a:t>
            </a:r>
            <a:endParaRPr lang="en-US" sz="1200" dirty="0"/>
          </a:p>
        </p:txBody>
      </p:sp>
      <p:sp>
        <p:nvSpPr>
          <p:cNvPr id="6" name="Text 3"/>
          <p:cNvSpPr/>
          <p:nvPr/>
        </p:nvSpPr>
        <p:spPr>
          <a:xfrm>
            <a:off x="4206240" y="1051560"/>
            <a:ext cx="7223760" cy="777240"/>
          </a:xfrm>
          <a:prstGeom prst="rect">
            <a:avLst/>
          </a:prstGeom>
          <a:noFill/>
          <a:ln/>
        </p:spPr>
        <p:txBody>
          <a:bodyPr wrap="square" lIns="0" tIns="0" rIns="0" bIns="0" rtlCol="0" anchor="ctr"/>
          <a:lstStyle/>
          <a:p>
            <a:pPr marL="0" indent="0">
              <a:buNone/>
            </a:pPr>
            <a:r>
              <a:rPr lang="en-US" sz="3200" b="1" kern="0" spc="-100" dirty="0">
                <a:solidFill>
                  <a:srgbClr val="FFFFFF"/>
                </a:solidFill>
                <a:latin typeface="Arial" pitchFamily="34" charset="0"/>
                <a:ea typeface="Arial" pitchFamily="34" charset="-122"/>
                <a:cs typeface="Arial" pitchFamily="34" charset="-120"/>
              </a:rPr>
              <a:t>Did that actually do anything?</a:t>
            </a:r>
            <a:endParaRPr lang="en-US" sz="3200" dirty="0"/>
          </a:p>
        </p:txBody>
      </p:sp>
      <p:sp>
        <p:nvSpPr>
          <p:cNvPr id="7" name="Text 4"/>
          <p:cNvSpPr/>
          <p:nvPr/>
        </p:nvSpPr>
        <p:spPr>
          <a:xfrm>
            <a:off x="4206240" y="1965960"/>
            <a:ext cx="7223760" cy="1234440"/>
          </a:xfrm>
          <a:prstGeom prst="rect">
            <a:avLst/>
          </a:prstGeom>
          <a:noFill/>
          <a:ln/>
        </p:spPr>
        <p:txBody>
          <a:bodyPr wrap="square" lIns="0" tIns="0" rIns="0" bIns="0" rtlCol="0" anchor="ctr"/>
          <a:lstStyle/>
          <a:p>
            <a:pPr marL="0" indent="0">
              <a:lnSpc>
                <a:spcPts val="2400"/>
              </a:lnSpc>
              <a:buNone/>
            </a:pPr>
            <a:r>
              <a:rPr lang="en-US" sz="1600" dirty="0">
                <a:solidFill>
                  <a:srgbClr val="9B909A"/>
                </a:solidFill>
                <a:latin typeface="Calibri" pitchFamily="34" charset="0"/>
                <a:ea typeface="Calibri" pitchFamily="34" charset="-122"/>
                <a:cs typeface="Calibri" pitchFamily="34" charset="-120"/>
              </a:rPr>
              <a:t>Compares before-and-after screenshots and says whether the app really changed, or the page just redrew itself. Only called when the text on the page cannot settle it.</a:t>
            </a:r>
            <a:endParaRPr lang="en-US" sz="1600" dirty="0"/>
          </a:p>
        </p:txBody>
      </p:sp>
      <p:sp>
        <p:nvSpPr>
          <p:cNvPr id="8" name="Text 5"/>
          <p:cNvSpPr/>
          <p:nvPr/>
        </p:nvSpPr>
        <p:spPr>
          <a:xfrm>
            <a:off x="4206240" y="3310128"/>
            <a:ext cx="7223760" cy="320040"/>
          </a:xfrm>
          <a:prstGeom prst="rect">
            <a:avLst/>
          </a:prstGeom>
          <a:noFill/>
          <a:ln/>
        </p:spPr>
        <p:txBody>
          <a:bodyPr wrap="square" lIns="0" tIns="0" rIns="0" bIns="0" rtlCol="0" anchor="ctr"/>
          <a:lstStyle/>
          <a:p>
            <a:pPr marL="0" indent="0">
              <a:buNone/>
            </a:pPr>
            <a:r>
              <a:rPr lang="en-US" sz="1100" dirty="0">
                <a:solidFill>
                  <a:srgbClr val="6E646D"/>
                </a:solidFill>
                <a:latin typeface="Courier New" pitchFamily="34" charset="0"/>
                <a:ea typeface="Courier New" pitchFamily="34" charset="-122"/>
                <a:cs typeface="Courier New" pitchFamily="34" charset="-120"/>
              </a:rPr>
              <a:t>fal-ai/any-llm/vision · gemini-2.5-flash-lite · 1440x900 frame inline</a:t>
            </a:r>
            <a:endParaRPr lang="en-US" sz="1100" dirty="0"/>
          </a:p>
        </p:txBody>
      </p:sp>
      <p:sp>
        <p:nvSpPr>
          <p:cNvPr id="9" name="Shape 6"/>
          <p:cNvSpPr/>
          <p:nvPr/>
        </p:nvSpPr>
        <p:spPr>
          <a:xfrm>
            <a:off x="4206240" y="3886200"/>
            <a:ext cx="7223760" cy="1234440"/>
          </a:xfrm>
          <a:prstGeom prst="roundRect">
            <a:avLst>
              <a:gd name="adj" fmla="val 7407"/>
            </a:avLst>
          </a:prstGeom>
          <a:solidFill>
            <a:srgbClr val="140B12"/>
          </a:solidFill>
          <a:ln w="12700">
            <a:solidFill>
              <a:srgbClr val="2A1E27"/>
            </a:solidFill>
            <a:prstDash val="solid"/>
          </a:ln>
        </p:spPr>
        <p:txBody>
          <a:bodyPr/>
          <a:lstStyle/>
          <a:p>
            <a:endParaRPr lang="en-US"/>
          </a:p>
        </p:txBody>
      </p:sp>
      <p:sp>
        <p:nvSpPr>
          <p:cNvPr id="10" name="Text 7"/>
          <p:cNvSpPr/>
          <p:nvPr/>
        </p:nvSpPr>
        <p:spPr>
          <a:xfrm>
            <a:off x="4480560" y="4041648"/>
            <a:ext cx="6675120" cy="914400"/>
          </a:xfrm>
          <a:prstGeom prst="rect">
            <a:avLst/>
          </a:prstGeom>
          <a:noFill/>
          <a:ln/>
        </p:spPr>
        <p:txBody>
          <a:bodyPr wrap="square" lIns="0" tIns="0" rIns="0" bIns="0" rtlCol="0" anchor="ctr"/>
          <a:lstStyle/>
          <a:p>
            <a:pPr marL="0" indent="0">
              <a:lnSpc>
                <a:spcPts val="2200"/>
              </a:lnSpc>
              <a:buNone/>
            </a:pPr>
            <a:r>
              <a:rPr lang="en-US" sz="1500" dirty="0">
                <a:solidFill>
                  <a:srgbClr val="D8CFD6"/>
                </a:solidFill>
                <a:latin typeface="Calibri" pitchFamily="34" charset="0"/>
                <a:ea typeface="Calibri" pitchFamily="34" charset="-122"/>
                <a:cs typeface="Calibri" pitchFamily="34" charset="-120"/>
              </a:rPr>
              <a:t>On ParaBank - a target it had never seen - it reclassified all five candidates as cosmetic. It was right: the loan submissions returned error pages.</a:t>
            </a:r>
            <a:endParaRPr lang="en-US" sz="1500" dirty="0"/>
          </a:p>
        </p:txBody>
      </p:sp>
      <p:sp>
        <p:nvSpPr>
          <p:cNvPr id="11" name="Text 8"/>
          <p:cNvSpPr/>
          <p:nvPr/>
        </p:nvSpPr>
        <p:spPr>
          <a:xfrm>
            <a:off x="4206240" y="5394960"/>
            <a:ext cx="7223760" cy="457200"/>
          </a:xfrm>
          <a:prstGeom prst="rect">
            <a:avLst/>
          </a:prstGeom>
          <a:noFill/>
          <a:ln/>
        </p:spPr>
        <p:txBody>
          <a:bodyPr wrap="square" lIns="0" tIns="0" rIns="0" bIns="0" rtlCol="0" anchor="ctr"/>
          <a:lstStyle/>
          <a:p>
            <a:pPr marL="0" indent="0">
              <a:buNone/>
            </a:pPr>
            <a:r>
              <a:rPr lang="en-US" sz="1300" dirty="0">
                <a:solidFill>
                  <a:srgbClr val="6E646D"/>
                </a:solidFill>
                <a:latin typeface="Calibri" pitchFamily="34" charset="0"/>
                <a:ea typeface="Calibri" pitchFamily="34" charset="-122"/>
                <a:cs typeface="Calibri" pitchFamily="34" charset="-120"/>
              </a:rPr>
              <a:t>Without it — </a:t>
            </a:r>
            <a:r>
              <a:rPr lang="en-US" sz="1300" dirty="0">
                <a:solidFill>
                  <a:srgbClr val="5C525B"/>
                </a:solidFill>
                <a:latin typeface="Calibri" pitchFamily="34" charset="0"/>
                <a:ea typeface="Calibri" pitchFamily="34" charset="-122"/>
                <a:cs typeface="Calibri" pitchFamily="34" charset="-120"/>
              </a:rPr>
              <a:t>A page that merely redrew can be mistaken for one that changed.</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0509"/>
        </a:solidFill>
        <a:effectLst/>
      </p:bgPr>
    </p:bg>
    <p:spTree>
      <p:nvGrpSpPr>
        <p:cNvPr id="1" name=""/>
        <p:cNvGrpSpPr/>
        <p:nvPr/>
      </p:nvGrpSpPr>
      <p:grpSpPr>
        <a:xfrm>
          <a:off x="0" y="0"/>
          <a:ext cx="0" cy="0"/>
          <a:chOff x="0" y="0"/>
          <a:chExt cx="0" cy="0"/>
        </a:xfrm>
      </p:grpSpPr>
      <p:sp>
        <p:nvSpPr>
          <p:cNvPr id="2" name="Shape 0"/>
          <p:cNvSpPr/>
          <p:nvPr/>
        </p:nvSpPr>
        <p:spPr>
          <a:xfrm>
            <a:off x="822960" y="1143000"/>
            <a:ext cx="1371600" cy="1371600"/>
          </a:xfrm>
          <a:prstGeom prst="roundRect">
            <a:avLst>
              <a:gd name="adj" fmla="val 12000"/>
            </a:avLst>
          </a:prstGeom>
          <a:solidFill>
            <a:srgbClr val="140B12"/>
          </a:solidFill>
          <a:ln w="12700">
            <a:solidFill>
              <a:srgbClr val="2A1E27"/>
            </a:solidFill>
            <a:prstDash val="solid"/>
          </a:ln>
        </p:spPr>
        <p:txBody>
          <a:bodyPr/>
          <a:lstStyle/>
          <a:p>
            <a:endParaRPr lang="en-US"/>
          </a:p>
        </p:txBody>
      </p:sp>
      <p:pic>
        <p:nvPicPr>
          <p:cNvPr id="3" name="Image 0" descr="/private/tmp/claude-501/-Users-brwbo/af21f834-8748-4b21-a72f-e5d01be37e45/scratchpad/logos/tavily.png"/>
          <p:cNvPicPr>
            <a:picLocks noChangeAspect="1"/>
          </p:cNvPicPr>
          <p:nvPr/>
        </p:nvPicPr>
        <p:blipFill>
          <a:blip r:embed="rId3"/>
          <a:srcRect/>
          <a:stretch/>
        </p:blipFill>
        <p:spPr>
          <a:xfrm>
            <a:off x="1133856" y="1481328"/>
            <a:ext cx="749808" cy="694944"/>
          </a:xfrm>
          <a:prstGeom prst="rect">
            <a:avLst/>
          </a:prstGeom>
        </p:spPr>
      </p:pic>
      <p:sp>
        <p:nvSpPr>
          <p:cNvPr id="4" name="Text 1"/>
          <p:cNvSpPr/>
          <p:nvPr/>
        </p:nvSpPr>
        <p:spPr>
          <a:xfrm>
            <a:off x="822960" y="2697480"/>
            <a:ext cx="2743200" cy="365760"/>
          </a:xfrm>
          <a:prstGeom prst="rect">
            <a:avLst/>
          </a:prstGeom>
          <a:noFill/>
          <a:ln/>
        </p:spPr>
        <p:txBody>
          <a:bodyPr wrap="square" lIns="0" tIns="0" rIns="0" bIns="0" rtlCol="0" anchor="ctr"/>
          <a:lstStyle/>
          <a:p>
            <a:pPr marL="0" indent="0">
              <a:buNone/>
            </a:pPr>
            <a:r>
              <a:rPr lang="en-US" sz="2000" b="1" dirty="0">
                <a:solidFill>
                  <a:srgbClr val="FFFFFF"/>
                </a:solidFill>
                <a:latin typeface="Arial" pitchFamily="34" charset="0"/>
                <a:ea typeface="Arial" pitchFamily="34" charset="-122"/>
                <a:cs typeface="Arial" pitchFamily="34" charset="-120"/>
              </a:rPr>
              <a:t>Tavily</a:t>
            </a:r>
            <a:endParaRPr lang="en-US" sz="2000" dirty="0"/>
          </a:p>
        </p:txBody>
      </p:sp>
      <p:sp>
        <p:nvSpPr>
          <p:cNvPr id="5" name="Text 2"/>
          <p:cNvSpPr/>
          <p:nvPr/>
        </p:nvSpPr>
        <p:spPr>
          <a:xfrm>
            <a:off x="822960" y="3090672"/>
            <a:ext cx="2743200" cy="320040"/>
          </a:xfrm>
          <a:prstGeom prst="rect">
            <a:avLst/>
          </a:prstGeom>
          <a:noFill/>
          <a:ln/>
        </p:spPr>
        <p:txBody>
          <a:bodyPr wrap="square" lIns="0" tIns="0" rIns="0" bIns="0" rtlCol="0" anchor="ctr"/>
          <a:lstStyle/>
          <a:p>
            <a:pPr marL="0" indent="0">
              <a:buNone/>
            </a:pPr>
            <a:r>
              <a:rPr lang="en-US" sz="1200" dirty="0">
                <a:solidFill>
                  <a:srgbClr val="FF6E28"/>
                </a:solidFill>
                <a:latin typeface="Courier New" pitchFamily="34" charset="0"/>
                <a:ea typeface="Courier New" pitchFamily="34" charset="-122"/>
                <a:cs typeface="Courier New" pitchFamily="34" charset="-120"/>
              </a:rPr>
              <a:t>ground</a:t>
            </a:r>
            <a:endParaRPr lang="en-US" sz="1200" dirty="0"/>
          </a:p>
        </p:txBody>
      </p:sp>
      <p:sp>
        <p:nvSpPr>
          <p:cNvPr id="6" name="Text 3"/>
          <p:cNvSpPr/>
          <p:nvPr/>
        </p:nvSpPr>
        <p:spPr>
          <a:xfrm>
            <a:off x="4206240" y="1051560"/>
            <a:ext cx="7223760" cy="777240"/>
          </a:xfrm>
          <a:prstGeom prst="rect">
            <a:avLst/>
          </a:prstGeom>
          <a:noFill/>
          <a:ln/>
        </p:spPr>
        <p:txBody>
          <a:bodyPr wrap="square" lIns="0" tIns="0" rIns="0" bIns="0" rtlCol="0" anchor="ctr"/>
          <a:lstStyle/>
          <a:p>
            <a:pPr marL="0" indent="0">
              <a:buNone/>
            </a:pPr>
            <a:r>
              <a:rPr lang="en-US" sz="3200" b="1" kern="0" spc="-100" dirty="0">
                <a:solidFill>
                  <a:srgbClr val="FFFFFF"/>
                </a:solidFill>
                <a:latin typeface="Arial" pitchFamily="34" charset="0"/>
                <a:ea typeface="Arial" pitchFamily="34" charset="-122"/>
                <a:cs typeface="Arial" pitchFamily="34" charset="-120"/>
              </a:rPr>
              <a:t>Learns the words this app uses.</a:t>
            </a:r>
            <a:endParaRPr lang="en-US" sz="3200" dirty="0"/>
          </a:p>
        </p:txBody>
      </p:sp>
      <p:sp>
        <p:nvSpPr>
          <p:cNvPr id="7" name="Text 4"/>
          <p:cNvSpPr/>
          <p:nvPr/>
        </p:nvSpPr>
        <p:spPr>
          <a:xfrm>
            <a:off x="4206240" y="1965960"/>
            <a:ext cx="7223760" cy="1234440"/>
          </a:xfrm>
          <a:prstGeom prst="rect">
            <a:avLst/>
          </a:prstGeom>
          <a:noFill/>
          <a:ln/>
        </p:spPr>
        <p:txBody>
          <a:bodyPr wrap="square" lIns="0" tIns="0" rIns="0" bIns="0" rtlCol="0" anchor="ctr"/>
          <a:lstStyle/>
          <a:p>
            <a:pPr marL="0" indent="0">
              <a:lnSpc>
                <a:spcPts val="2400"/>
              </a:lnSpc>
              <a:buNone/>
            </a:pPr>
            <a:r>
              <a:rPr lang="en-US" sz="1600" dirty="0">
                <a:solidFill>
                  <a:srgbClr val="9B909A"/>
                </a:solidFill>
                <a:latin typeface="Calibri" pitchFamily="34" charset="0"/>
                <a:ea typeface="Calibri" pitchFamily="34" charset="-122"/>
                <a:cs typeface="Calibri" pitchFamily="34" charset="-120"/>
              </a:rPr>
              <a:t>apic was written knowing Vikunja’s vocabulary - task, project, label. Tavily finds the app’s own documentation on the web, so pointed at Gitea it learns this one has issues, repositories and pull requests instead.</a:t>
            </a:r>
            <a:endParaRPr lang="en-US" sz="1600" dirty="0"/>
          </a:p>
        </p:txBody>
      </p:sp>
      <p:sp>
        <p:nvSpPr>
          <p:cNvPr id="8" name="Text 5"/>
          <p:cNvSpPr/>
          <p:nvPr/>
        </p:nvSpPr>
        <p:spPr>
          <a:xfrm>
            <a:off x="4206240" y="3310128"/>
            <a:ext cx="7223760" cy="320040"/>
          </a:xfrm>
          <a:prstGeom prst="rect">
            <a:avLst/>
          </a:prstGeom>
          <a:noFill/>
          <a:ln/>
        </p:spPr>
        <p:txBody>
          <a:bodyPr wrap="square" lIns="0" tIns="0" rIns="0" bIns="0" rtlCol="0" anchor="ctr"/>
          <a:lstStyle/>
          <a:p>
            <a:pPr marL="0" indent="0">
              <a:buNone/>
            </a:pPr>
            <a:r>
              <a:rPr lang="en-US" sz="1100" dirty="0">
                <a:solidFill>
                  <a:srgbClr val="6E646D"/>
                </a:solidFill>
                <a:latin typeface="Courier New" pitchFamily="34" charset="0"/>
                <a:ea typeface="Courier New" pitchFamily="34" charset="-122"/>
                <a:cs typeface="Courier New" pitchFamily="34" charset="-120"/>
              </a:rPr>
              <a:t>api.tavily.com/search · closed noun set, capped at 12, cached per host</a:t>
            </a:r>
            <a:endParaRPr lang="en-US" sz="1100" dirty="0"/>
          </a:p>
        </p:txBody>
      </p:sp>
      <p:sp>
        <p:nvSpPr>
          <p:cNvPr id="9" name="Shape 6"/>
          <p:cNvSpPr/>
          <p:nvPr/>
        </p:nvSpPr>
        <p:spPr>
          <a:xfrm>
            <a:off x="4206240" y="3886200"/>
            <a:ext cx="7223760" cy="1234440"/>
          </a:xfrm>
          <a:prstGeom prst="roundRect">
            <a:avLst>
              <a:gd name="adj" fmla="val 7407"/>
            </a:avLst>
          </a:prstGeom>
          <a:solidFill>
            <a:srgbClr val="140B12"/>
          </a:solidFill>
          <a:ln w="12700">
            <a:solidFill>
              <a:srgbClr val="2A1E27"/>
            </a:solidFill>
            <a:prstDash val="solid"/>
          </a:ln>
        </p:spPr>
        <p:txBody>
          <a:bodyPr/>
          <a:lstStyle/>
          <a:p>
            <a:endParaRPr lang="en-US"/>
          </a:p>
        </p:txBody>
      </p:sp>
      <p:sp>
        <p:nvSpPr>
          <p:cNvPr id="10" name="Text 7"/>
          <p:cNvSpPr/>
          <p:nvPr/>
        </p:nvSpPr>
        <p:spPr>
          <a:xfrm>
            <a:off x="4480560" y="4041648"/>
            <a:ext cx="6675120" cy="914400"/>
          </a:xfrm>
          <a:prstGeom prst="rect">
            <a:avLst/>
          </a:prstGeom>
          <a:noFill/>
          <a:ln/>
        </p:spPr>
        <p:txBody>
          <a:bodyPr wrap="square" lIns="0" tIns="0" rIns="0" bIns="0" rtlCol="0" anchor="ctr"/>
          <a:lstStyle/>
          <a:p>
            <a:pPr marL="0" indent="0">
              <a:lnSpc>
                <a:spcPts val="2200"/>
              </a:lnSpc>
              <a:buNone/>
            </a:pPr>
            <a:r>
              <a:rPr lang="en-US" sz="1500" dirty="0">
                <a:solidFill>
                  <a:srgbClr val="D8CFD6"/>
                </a:solidFill>
                <a:latin typeface="Calibri" pitchFamily="34" charset="0"/>
                <a:ea typeface="Calibri" pitchFamily="34" charset="-122"/>
                <a:cs typeface="Calibri" pitchFamily="34" charset="-120"/>
              </a:rPr>
              <a:t>New words are added to what apic knows, never swapped in for it - and cached per app, so a second compile costs nothing.</a:t>
            </a:r>
            <a:endParaRPr lang="en-US" sz="1500" dirty="0"/>
          </a:p>
        </p:txBody>
      </p:sp>
      <p:sp>
        <p:nvSpPr>
          <p:cNvPr id="11" name="Text 8"/>
          <p:cNvSpPr/>
          <p:nvPr/>
        </p:nvSpPr>
        <p:spPr>
          <a:xfrm>
            <a:off x="4206240" y="5394960"/>
            <a:ext cx="7223760" cy="457200"/>
          </a:xfrm>
          <a:prstGeom prst="rect">
            <a:avLst/>
          </a:prstGeom>
          <a:noFill/>
          <a:ln/>
        </p:spPr>
        <p:txBody>
          <a:bodyPr wrap="square" lIns="0" tIns="0" rIns="0" bIns="0" rtlCol="0" anchor="ctr"/>
          <a:lstStyle/>
          <a:p>
            <a:pPr marL="0" indent="0">
              <a:buNone/>
            </a:pPr>
            <a:r>
              <a:rPr lang="en-US" sz="1300" dirty="0">
                <a:solidFill>
                  <a:srgbClr val="6E646D"/>
                </a:solidFill>
                <a:latin typeface="Calibri" pitchFamily="34" charset="0"/>
                <a:ea typeface="Calibri" pitchFamily="34" charset="-122"/>
                <a:cs typeface="Calibri" pitchFamily="34" charset="-120"/>
              </a:rPr>
              <a:t>Without it — </a:t>
            </a:r>
            <a:r>
              <a:rPr lang="en-US" sz="1300" dirty="0">
                <a:solidFill>
                  <a:srgbClr val="5C525B"/>
                </a:solidFill>
                <a:latin typeface="Calibri" pitchFamily="34" charset="0"/>
                <a:ea typeface="Calibri" pitchFamily="34" charset="-122"/>
                <a:cs typeface="Calibri" pitchFamily="34" charset="-120"/>
              </a:rPr>
              <a:t>apic only knows the words it was born with. Anything an app calls something else gets a worse name, or gets dropped.</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0509"/>
        </a:solidFill>
        <a:effectLst/>
      </p:bgPr>
    </p:bg>
    <p:spTree>
      <p:nvGrpSpPr>
        <p:cNvPr id="1" name=""/>
        <p:cNvGrpSpPr/>
        <p:nvPr/>
      </p:nvGrpSpPr>
      <p:grpSpPr>
        <a:xfrm>
          <a:off x="0" y="0"/>
          <a:ext cx="0" cy="0"/>
          <a:chOff x="0" y="0"/>
          <a:chExt cx="0" cy="0"/>
        </a:xfrm>
      </p:grpSpPr>
      <p:sp>
        <p:nvSpPr>
          <p:cNvPr id="2" name="Shape 0"/>
          <p:cNvSpPr/>
          <p:nvPr/>
        </p:nvSpPr>
        <p:spPr>
          <a:xfrm>
            <a:off x="822960" y="1143000"/>
            <a:ext cx="1371600" cy="1371600"/>
          </a:xfrm>
          <a:prstGeom prst="roundRect">
            <a:avLst>
              <a:gd name="adj" fmla="val 12000"/>
            </a:avLst>
          </a:prstGeom>
          <a:solidFill>
            <a:srgbClr val="140B12"/>
          </a:solidFill>
          <a:ln w="12700">
            <a:solidFill>
              <a:srgbClr val="2A1E27"/>
            </a:solidFill>
            <a:prstDash val="solid"/>
          </a:ln>
        </p:spPr>
        <p:txBody>
          <a:bodyPr/>
          <a:lstStyle/>
          <a:p>
            <a:endParaRPr lang="en-US"/>
          </a:p>
        </p:txBody>
      </p:sp>
      <p:pic>
        <p:nvPicPr>
          <p:cNvPr id="3" name="Image 0" descr="/private/tmp/claude-501/-Users-brwbo/af21f834-8748-4b21-a72f-e5d01be37e45/scratchpad/logos/pioneer.png"/>
          <p:cNvPicPr>
            <a:picLocks noChangeAspect="1"/>
          </p:cNvPicPr>
          <p:nvPr/>
        </p:nvPicPr>
        <p:blipFill>
          <a:blip r:embed="rId3"/>
          <a:srcRect/>
          <a:stretch/>
        </p:blipFill>
        <p:spPr>
          <a:xfrm>
            <a:off x="1133856" y="1481328"/>
            <a:ext cx="749808" cy="694944"/>
          </a:xfrm>
          <a:prstGeom prst="rect">
            <a:avLst/>
          </a:prstGeom>
        </p:spPr>
      </p:pic>
      <p:sp>
        <p:nvSpPr>
          <p:cNvPr id="4" name="Text 1"/>
          <p:cNvSpPr/>
          <p:nvPr/>
        </p:nvSpPr>
        <p:spPr>
          <a:xfrm>
            <a:off x="822960" y="2697480"/>
            <a:ext cx="2743200" cy="365760"/>
          </a:xfrm>
          <a:prstGeom prst="rect">
            <a:avLst/>
          </a:prstGeom>
          <a:noFill/>
          <a:ln/>
        </p:spPr>
        <p:txBody>
          <a:bodyPr wrap="square" lIns="0" tIns="0" rIns="0" bIns="0" rtlCol="0" anchor="ctr"/>
          <a:lstStyle/>
          <a:p>
            <a:pPr marL="0" indent="0">
              <a:buNone/>
            </a:pPr>
            <a:r>
              <a:rPr lang="en-US" sz="2000" b="1" dirty="0">
                <a:solidFill>
                  <a:srgbClr val="FFFFFF"/>
                </a:solidFill>
                <a:latin typeface="Arial" pitchFamily="34" charset="0"/>
                <a:ea typeface="Arial" pitchFamily="34" charset="-122"/>
                <a:cs typeface="Arial" pitchFamily="34" charset="-120"/>
              </a:rPr>
              <a:t>Pioneer</a:t>
            </a:r>
            <a:endParaRPr lang="en-US" sz="2000" dirty="0"/>
          </a:p>
        </p:txBody>
      </p:sp>
      <p:sp>
        <p:nvSpPr>
          <p:cNvPr id="5" name="Text 2"/>
          <p:cNvSpPr/>
          <p:nvPr/>
        </p:nvSpPr>
        <p:spPr>
          <a:xfrm>
            <a:off x="822960" y="3090672"/>
            <a:ext cx="2743200" cy="320040"/>
          </a:xfrm>
          <a:prstGeom prst="rect">
            <a:avLst/>
          </a:prstGeom>
          <a:noFill/>
          <a:ln/>
        </p:spPr>
        <p:txBody>
          <a:bodyPr wrap="square" lIns="0" tIns="0" rIns="0" bIns="0" rtlCol="0" anchor="ctr"/>
          <a:lstStyle/>
          <a:p>
            <a:pPr marL="0" indent="0">
              <a:buNone/>
            </a:pPr>
            <a:r>
              <a:rPr lang="en-US" sz="1200" dirty="0">
                <a:solidFill>
                  <a:srgbClr val="FF6E28"/>
                </a:solidFill>
                <a:latin typeface="Courier New" pitchFamily="34" charset="0"/>
                <a:ea typeface="Courier New" pitchFamily="34" charset="-122"/>
                <a:cs typeface="Courier New" pitchFamily="34" charset="-120"/>
              </a:rPr>
              <a:t>verify · distill</a:t>
            </a:r>
            <a:endParaRPr lang="en-US" sz="1200" dirty="0"/>
          </a:p>
        </p:txBody>
      </p:sp>
      <p:sp>
        <p:nvSpPr>
          <p:cNvPr id="6" name="Text 3"/>
          <p:cNvSpPr/>
          <p:nvPr/>
        </p:nvSpPr>
        <p:spPr>
          <a:xfrm>
            <a:off x="4206240" y="1051560"/>
            <a:ext cx="7223760" cy="777240"/>
          </a:xfrm>
          <a:prstGeom prst="rect">
            <a:avLst/>
          </a:prstGeom>
          <a:noFill/>
          <a:ln/>
        </p:spPr>
        <p:txBody>
          <a:bodyPr wrap="square" lIns="0" tIns="0" rIns="0" bIns="0" rtlCol="0" anchor="ctr"/>
          <a:lstStyle/>
          <a:p>
            <a:pPr marL="0" indent="0">
              <a:buNone/>
            </a:pPr>
            <a:r>
              <a:rPr lang="en-US" sz="3200" b="1" kern="0" spc="-100" dirty="0">
                <a:solidFill>
                  <a:srgbClr val="FFFFFF"/>
                </a:solidFill>
                <a:latin typeface="Arial" pitchFamily="34" charset="0"/>
                <a:ea typeface="Arial" pitchFamily="34" charset="-122"/>
                <a:cs typeface="Arial" pitchFamily="34" charset="-120"/>
              </a:rPr>
              <a:t>A judge we trained on our own results.</a:t>
            </a:r>
            <a:endParaRPr lang="en-US" sz="3200" dirty="0"/>
          </a:p>
        </p:txBody>
      </p:sp>
      <p:sp>
        <p:nvSpPr>
          <p:cNvPr id="7" name="Text 4"/>
          <p:cNvSpPr/>
          <p:nvPr/>
        </p:nvSpPr>
        <p:spPr>
          <a:xfrm>
            <a:off x="4206240" y="1965960"/>
            <a:ext cx="7223760" cy="1234440"/>
          </a:xfrm>
          <a:prstGeom prst="rect">
            <a:avLst/>
          </a:prstGeom>
          <a:noFill/>
          <a:ln/>
        </p:spPr>
        <p:txBody>
          <a:bodyPr wrap="square" lIns="0" tIns="0" rIns="0" bIns="0" rtlCol="0" anchor="ctr"/>
          <a:lstStyle/>
          <a:p>
            <a:pPr marL="0" indent="0">
              <a:lnSpc>
                <a:spcPts val="2400"/>
              </a:lnSpc>
              <a:buNone/>
            </a:pPr>
            <a:r>
              <a:rPr lang="en-US" sz="1600" dirty="0">
                <a:solidFill>
                  <a:srgbClr val="9B909A"/>
                </a:solidFill>
                <a:latin typeface="Calibri" pitchFamily="34" charset="0"/>
                <a:ea typeface="Calibri" pitchFamily="34" charset="-122"/>
                <a:cs typeface="Calibri" pitchFamily="34" charset="-120"/>
              </a:rPr>
              <a:t>After a tool is replayed, it reads what changed on the page and decides whether the write really happened. Nobody labelled anything by hand - apic replayed its own tools six times and recorded what its existing judge decided.</a:t>
            </a:r>
            <a:endParaRPr lang="en-US" sz="1600" dirty="0"/>
          </a:p>
        </p:txBody>
      </p:sp>
      <p:sp>
        <p:nvSpPr>
          <p:cNvPr id="8" name="Text 5"/>
          <p:cNvSpPr/>
          <p:nvPr/>
        </p:nvSpPr>
        <p:spPr>
          <a:xfrm>
            <a:off x="4206240" y="3310128"/>
            <a:ext cx="7223760" cy="320040"/>
          </a:xfrm>
          <a:prstGeom prst="rect">
            <a:avLst/>
          </a:prstGeom>
          <a:noFill/>
          <a:ln/>
        </p:spPr>
        <p:txBody>
          <a:bodyPr wrap="square" lIns="0" tIns="0" rIns="0" bIns="0" rtlCol="0" anchor="ctr"/>
          <a:lstStyle/>
          <a:p>
            <a:pPr marL="0" indent="0">
              <a:buNone/>
            </a:pPr>
            <a:r>
              <a:rPr lang="en-US" sz="1100" dirty="0">
                <a:solidFill>
                  <a:srgbClr val="6E646D"/>
                </a:solidFill>
                <a:latin typeface="Courier New" pitchFamily="34" charset="0"/>
                <a:ea typeface="Courier New" pitchFamily="34" charset="-122"/>
                <a:cs typeface="Courier New" pitchFamily="34" charset="-120"/>
              </a:rPr>
              <a:t>fastino/gliner2-base-v1 · LoRA, 788 rows, trains in ~4 min</a:t>
            </a:r>
            <a:endParaRPr lang="en-US" sz="1100" dirty="0"/>
          </a:p>
        </p:txBody>
      </p:sp>
      <p:sp>
        <p:nvSpPr>
          <p:cNvPr id="9" name="Shape 6"/>
          <p:cNvSpPr/>
          <p:nvPr/>
        </p:nvSpPr>
        <p:spPr>
          <a:xfrm>
            <a:off x="4206240" y="3886200"/>
            <a:ext cx="7223760" cy="1234440"/>
          </a:xfrm>
          <a:prstGeom prst="roundRect">
            <a:avLst>
              <a:gd name="adj" fmla="val 7407"/>
            </a:avLst>
          </a:prstGeom>
          <a:solidFill>
            <a:srgbClr val="140B12"/>
          </a:solidFill>
          <a:ln w="12700">
            <a:solidFill>
              <a:srgbClr val="2A1E27"/>
            </a:solidFill>
            <a:prstDash val="solid"/>
          </a:ln>
        </p:spPr>
        <p:txBody>
          <a:bodyPr/>
          <a:lstStyle/>
          <a:p>
            <a:endParaRPr lang="en-US"/>
          </a:p>
        </p:txBody>
      </p:sp>
      <p:sp>
        <p:nvSpPr>
          <p:cNvPr id="10" name="Text 7"/>
          <p:cNvSpPr/>
          <p:nvPr/>
        </p:nvSpPr>
        <p:spPr>
          <a:xfrm>
            <a:off x="4480560" y="4041648"/>
            <a:ext cx="6675120" cy="914400"/>
          </a:xfrm>
          <a:prstGeom prst="rect">
            <a:avLst/>
          </a:prstGeom>
          <a:noFill/>
          <a:ln/>
        </p:spPr>
        <p:txBody>
          <a:bodyPr wrap="square" lIns="0" tIns="0" rIns="0" bIns="0" rtlCol="0" anchor="ctr"/>
          <a:lstStyle/>
          <a:p>
            <a:pPr marL="0" indent="0">
              <a:lnSpc>
                <a:spcPts val="2200"/>
              </a:lnSpc>
              <a:buNone/>
            </a:pPr>
            <a:r>
              <a:rPr lang="en-US" sz="1500" dirty="0">
                <a:solidFill>
                  <a:srgbClr val="D8CFD6"/>
                </a:solidFill>
                <a:latin typeface="Calibri" pitchFamily="34" charset="0"/>
                <a:ea typeface="Calibri" pitchFamily="34" charset="-122"/>
                <a:cs typeface="Calibri" pitchFamily="34" charset="-120"/>
              </a:rPr>
              <a:t>Held-out bench: 94.4% accuracy · 100% precision · 150 ms  —  against 89.3%, 84.3% and 890 ms for the frontier model it replaced.</a:t>
            </a:r>
            <a:endParaRPr lang="en-US" sz="1500" dirty="0"/>
          </a:p>
        </p:txBody>
      </p:sp>
      <p:sp>
        <p:nvSpPr>
          <p:cNvPr id="11" name="Text 8"/>
          <p:cNvSpPr/>
          <p:nvPr/>
        </p:nvSpPr>
        <p:spPr>
          <a:xfrm>
            <a:off x="4206240" y="5394960"/>
            <a:ext cx="7223760" cy="457200"/>
          </a:xfrm>
          <a:prstGeom prst="rect">
            <a:avLst/>
          </a:prstGeom>
          <a:noFill/>
          <a:ln/>
        </p:spPr>
        <p:txBody>
          <a:bodyPr wrap="square" lIns="0" tIns="0" rIns="0" bIns="0" rtlCol="0" anchor="ctr"/>
          <a:lstStyle/>
          <a:p>
            <a:pPr marL="0" indent="0">
              <a:buNone/>
            </a:pPr>
            <a:r>
              <a:rPr lang="en-US" sz="1300" dirty="0">
                <a:solidFill>
                  <a:srgbClr val="6E646D"/>
                </a:solidFill>
                <a:latin typeface="Calibri" pitchFamily="34" charset="0"/>
                <a:ea typeface="Calibri" pitchFamily="34" charset="-122"/>
                <a:cs typeface="Calibri" pitchFamily="34" charset="-120"/>
              </a:rPr>
              <a:t>Without it — </a:t>
            </a:r>
            <a:r>
              <a:rPr lang="en-US" sz="1300" dirty="0">
                <a:solidFill>
                  <a:srgbClr val="5C525B"/>
                </a:solidFill>
                <a:latin typeface="Calibri" pitchFamily="34" charset="0"/>
                <a:ea typeface="Calibri" pitchFamily="34" charset="-122"/>
                <a:cs typeface="Calibri" pitchFamily="34" charset="-120"/>
              </a:rPr>
              <a:t>A slower judge, more willing to pass a tool that did not really work.</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3">
    <p:bg>
      <p:bgPr>
        <a:solidFill>
          <a:srgbClr val="0A0509"/>
        </a:solidFill>
        <a:effectLst/>
      </p:bgPr>
    </p:bg>
    <p:spTree>
      <p:nvGrpSpPr>
        <p:cNvPr id="1" name=""/>
        <p:cNvGrpSpPr/>
        <p:nvPr/>
      </p:nvGrpSpPr>
      <p:grpSpPr>
        <a:xfrm>
          <a:off x="0" y="0"/>
          <a:ext cx="0" cy="0"/>
          <a:chOff x="0" y="0"/>
          <a:chExt cx="0" cy="0"/>
        </a:xfrm>
      </p:grpSpPr>
      <p:sp>
        <p:nvSpPr>
          <p:cNvPr id="2" name="Text 0"/>
          <p:cNvSpPr/>
          <p:nvPr/>
        </p:nvSpPr>
        <p:spPr>
          <a:xfrm>
            <a:off x="822960" y="548640"/>
            <a:ext cx="10515600" cy="685800"/>
          </a:xfrm>
          <a:prstGeom prst="rect">
            <a:avLst/>
          </a:prstGeom>
          <a:noFill/>
          <a:ln/>
        </p:spPr>
        <p:txBody>
          <a:bodyPr wrap="square" lIns="0" tIns="0" rIns="0" bIns="0" rtlCol="0" anchor="ctr"/>
          <a:lstStyle/>
          <a:p>
            <a:pPr marL="0" indent="0">
              <a:buNone/>
            </a:pPr>
            <a:r>
              <a:rPr lang="en-US" sz="3400" b="1" kern="0" spc="-100" dirty="0">
                <a:solidFill>
                  <a:srgbClr val="FFFFFF"/>
                </a:solidFill>
                <a:latin typeface="Arial" pitchFamily="34" charset="0"/>
                <a:ea typeface="Arial" pitchFamily="34" charset="-122"/>
                <a:cs typeface="Arial" pitchFamily="34" charset="-120"/>
              </a:rPr>
              <a:t>It installs where you already work.</a:t>
            </a:r>
            <a:endParaRPr lang="en-US" sz="3400" dirty="0"/>
          </a:p>
        </p:txBody>
      </p:sp>
      <p:sp>
        <p:nvSpPr>
          <p:cNvPr id="3" name="Text 1"/>
          <p:cNvSpPr/>
          <p:nvPr/>
        </p:nvSpPr>
        <p:spPr>
          <a:xfrm>
            <a:off x="822960" y="1325880"/>
            <a:ext cx="9692640" cy="457200"/>
          </a:xfrm>
          <a:prstGeom prst="rect">
            <a:avLst/>
          </a:prstGeom>
          <a:noFill/>
          <a:ln/>
        </p:spPr>
        <p:txBody>
          <a:bodyPr wrap="square" lIns="0" tIns="0" rIns="0" bIns="0" rtlCol="0" anchor="ctr"/>
          <a:lstStyle/>
          <a:p>
            <a:pPr marL="0" indent="0">
              <a:buNone/>
            </a:pPr>
            <a:r>
              <a:rPr lang="en-US" sz="1600" dirty="0">
                <a:solidFill>
                  <a:srgbClr val="9B909A"/>
                </a:solidFill>
                <a:latin typeface="Calibri" pitchFamily="34" charset="0"/>
                <a:ea typeface="Calibri" pitchFamily="34" charset="-122"/>
                <a:cs typeface="Calibri" pitchFamily="34" charset="-120"/>
              </a:rPr>
              <a:t>apic is a plain MCP server over stdio. There is no apic app, no dashboard and no account — it goes wherever MCP goes.</a:t>
            </a:r>
            <a:endParaRPr lang="en-US" sz="1600" dirty="0"/>
          </a:p>
        </p:txBody>
      </p:sp>
      <p:sp>
        <p:nvSpPr>
          <p:cNvPr id="4" name="Shape 2"/>
          <p:cNvSpPr/>
          <p:nvPr/>
        </p:nvSpPr>
        <p:spPr>
          <a:xfrm>
            <a:off x="822960" y="2103120"/>
            <a:ext cx="1956816" cy="2286000"/>
          </a:xfrm>
          <a:prstGeom prst="roundRect">
            <a:avLst>
              <a:gd name="adj" fmla="val 5607"/>
            </a:avLst>
          </a:prstGeom>
          <a:solidFill>
            <a:srgbClr val="140B12"/>
          </a:solidFill>
          <a:ln w="12700">
            <a:solidFill>
              <a:srgbClr val="2A1E27"/>
            </a:solidFill>
            <a:prstDash val="solid"/>
          </a:ln>
        </p:spPr>
        <p:txBody>
          <a:bodyPr/>
          <a:lstStyle/>
          <a:p>
            <a:endParaRPr lang="en-US"/>
          </a:p>
        </p:txBody>
      </p:sp>
      <p:pic>
        <p:nvPicPr>
          <p:cNvPr id="5" name="Image 0" descr="/private/tmp/claude-501/-Users-brwbo/af21f834-8748-4b21-a72f-e5d01be37e45/scratchpad/logos/claude.png"/>
          <p:cNvPicPr>
            <a:picLocks noChangeAspect="1"/>
          </p:cNvPicPr>
          <p:nvPr/>
        </p:nvPicPr>
        <p:blipFill>
          <a:blip r:embed="rId3"/>
          <a:srcRect/>
          <a:stretch/>
        </p:blipFill>
        <p:spPr>
          <a:xfrm>
            <a:off x="1572768" y="2395728"/>
            <a:ext cx="457200" cy="457200"/>
          </a:xfrm>
          <a:prstGeom prst="rect">
            <a:avLst/>
          </a:prstGeom>
        </p:spPr>
      </p:pic>
      <p:sp>
        <p:nvSpPr>
          <p:cNvPr id="6" name="Text 3"/>
          <p:cNvSpPr/>
          <p:nvPr/>
        </p:nvSpPr>
        <p:spPr>
          <a:xfrm>
            <a:off x="950976" y="3035808"/>
            <a:ext cx="1700784" cy="32004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Claude Code</a:t>
            </a:r>
            <a:endParaRPr lang="en-US" sz="1400" dirty="0"/>
          </a:p>
        </p:txBody>
      </p:sp>
      <p:sp>
        <p:nvSpPr>
          <p:cNvPr id="7" name="Text 4"/>
          <p:cNvSpPr/>
          <p:nvPr/>
        </p:nvSpPr>
        <p:spPr>
          <a:xfrm>
            <a:off x="950976" y="3401568"/>
            <a:ext cx="1700784" cy="548640"/>
          </a:xfrm>
          <a:prstGeom prst="rect">
            <a:avLst/>
          </a:prstGeom>
          <a:noFill/>
          <a:ln/>
        </p:spPr>
        <p:txBody>
          <a:bodyPr wrap="square" lIns="0" tIns="0" rIns="0" bIns="0" rtlCol="0" anchor="ctr"/>
          <a:lstStyle/>
          <a:p>
            <a:pPr marL="0" indent="0" algn="ctr">
              <a:lnSpc>
                <a:spcPts val="1300"/>
              </a:lnSpc>
              <a:buNone/>
            </a:pPr>
            <a:r>
              <a:rPr lang="en-US" sz="900" dirty="0">
                <a:solidFill>
                  <a:srgbClr val="6E646D"/>
                </a:solidFill>
                <a:latin typeface="Courier New" pitchFamily="34" charset="0"/>
                <a:ea typeface="Courier New" pitchFamily="34" charset="-122"/>
                <a:cs typeface="Courier New" pitchFamily="34" charset="-120"/>
              </a:rPr>
              <a:t>claude mcp add</a:t>
            </a:r>
            <a:endParaRPr lang="en-US" sz="900" dirty="0"/>
          </a:p>
        </p:txBody>
      </p:sp>
      <p:sp>
        <p:nvSpPr>
          <p:cNvPr id="8" name="Text 5"/>
          <p:cNvSpPr/>
          <p:nvPr/>
        </p:nvSpPr>
        <p:spPr>
          <a:xfrm>
            <a:off x="950976" y="4023360"/>
            <a:ext cx="1700784" cy="274320"/>
          </a:xfrm>
          <a:prstGeom prst="rect">
            <a:avLst/>
          </a:prstGeom>
          <a:noFill/>
          <a:ln/>
        </p:spPr>
        <p:txBody>
          <a:bodyPr wrap="square" lIns="0" tIns="0" rIns="0" bIns="0" rtlCol="0" anchor="ctr"/>
          <a:lstStyle/>
          <a:p>
            <a:pPr marL="0" indent="0" algn="ctr">
              <a:buNone/>
            </a:pPr>
            <a:r>
              <a:rPr lang="en-US" sz="900" dirty="0">
                <a:solidFill>
                  <a:srgbClr val="FF6E28"/>
                </a:solidFill>
                <a:latin typeface="Courier New" pitchFamily="34" charset="0"/>
                <a:ea typeface="Courier New" pitchFamily="34" charset="-122"/>
                <a:cs typeface="Courier New" pitchFamily="34" charset="-120"/>
              </a:rPr>
              <a:t>verified here</a:t>
            </a:r>
            <a:endParaRPr lang="en-US" sz="900" dirty="0"/>
          </a:p>
        </p:txBody>
      </p:sp>
      <p:sp>
        <p:nvSpPr>
          <p:cNvPr id="9" name="Shape 6"/>
          <p:cNvSpPr/>
          <p:nvPr/>
        </p:nvSpPr>
        <p:spPr>
          <a:xfrm>
            <a:off x="2962656" y="2103120"/>
            <a:ext cx="1956816" cy="2286000"/>
          </a:xfrm>
          <a:prstGeom prst="roundRect">
            <a:avLst>
              <a:gd name="adj" fmla="val 5607"/>
            </a:avLst>
          </a:prstGeom>
          <a:solidFill>
            <a:srgbClr val="140B12"/>
          </a:solidFill>
          <a:ln w="12700">
            <a:solidFill>
              <a:srgbClr val="2A1E27"/>
            </a:solidFill>
            <a:prstDash val="solid"/>
          </a:ln>
        </p:spPr>
        <p:txBody>
          <a:bodyPr/>
          <a:lstStyle/>
          <a:p>
            <a:endParaRPr lang="en-US"/>
          </a:p>
        </p:txBody>
      </p:sp>
      <p:pic>
        <p:nvPicPr>
          <p:cNvPr id="10" name="Image 1" descr="/private/tmp/claude-501/-Users-brwbo/af21f834-8748-4b21-a72f-e5d01be37e45/scratchpad/logos/claude.png"/>
          <p:cNvPicPr>
            <a:picLocks noChangeAspect="1"/>
          </p:cNvPicPr>
          <p:nvPr/>
        </p:nvPicPr>
        <p:blipFill>
          <a:blip r:embed="rId3"/>
          <a:srcRect/>
          <a:stretch/>
        </p:blipFill>
        <p:spPr>
          <a:xfrm>
            <a:off x="3712464" y="2395728"/>
            <a:ext cx="457200" cy="457200"/>
          </a:xfrm>
          <a:prstGeom prst="rect">
            <a:avLst/>
          </a:prstGeom>
        </p:spPr>
      </p:pic>
      <p:sp>
        <p:nvSpPr>
          <p:cNvPr id="11" name="Text 7"/>
          <p:cNvSpPr/>
          <p:nvPr/>
        </p:nvSpPr>
        <p:spPr>
          <a:xfrm>
            <a:off x="3090672" y="3035808"/>
            <a:ext cx="1700784" cy="32004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Claude Desktop</a:t>
            </a:r>
            <a:endParaRPr lang="en-US" sz="1400" dirty="0"/>
          </a:p>
        </p:txBody>
      </p:sp>
      <p:sp>
        <p:nvSpPr>
          <p:cNvPr id="12" name="Text 8"/>
          <p:cNvSpPr/>
          <p:nvPr/>
        </p:nvSpPr>
        <p:spPr>
          <a:xfrm>
            <a:off x="3090672" y="3401568"/>
            <a:ext cx="1700784" cy="548640"/>
          </a:xfrm>
          <a:prstGeom prst="rect">
            <a:avLst/>
          </a:prstGeom>
          <a:noFill/>
          <a:ln/>
        </p:spPr>
        <p:txBody>
          <a:bodyPr wrap="square" lIns="0" tIns="0" rIns="0" bIns="0" rtlCol="0" anchor="ctr"/>
          <a:lstStyle/>
          <a:p>
            <a:pPr marL="0" indent="0" algn="ctr">
              <a:lnSpc>
                <a:spcPts val="1300"/>
              </a:lnSpc>
              <a:buNone/>
            </a:pPr>
            <a:r>
              <a:rPr lang="en-US" sz="900" dirty="0">
                <a:solidFill>
                  <a:srgbClr val="6E646D"/>
                </a:solidFill>
                <a:latin typeface="Courier New" pitchFamily="34" charset="0"/>
                <a:ea typeface="Courier New" pitchFamily="34" charset="-122"/>
                <a:cs typeface="Courier New" pitchFamily="34" charset="-120"/>
              </a:rPr>
              <a:t>Developer › Edit Config</a:t>
            </a:r>
            <a:endParaRPr lang="en-US" sz="900" dirty="0"/>
          </a:p>
        </p:txBody>
      </p:sp>
      <p:sp>
        <p:nvSpPr>
          <p:cNvPr id="13" name="Text 9"/>
          <p:cNvSpPr/>
          <p:nvPr/>
        </p:nvSpPr>
        <p:spPr>
          <a:xfrm>
            <a:off x="3090672" y="4023360"/>
            <a:ext cx="1700784" cy="274320"/>
          </a:xfrm>
          <a:prstGeom prst="rect">
            <a:avLst/>
          </a:prstGeom>
          <a:noFill/>
          <a:ln/>
        </p:spPr>
        <p:txBody>
          <a:bodyPr wrap="square" lIns="0" tIns="0" rIns="0" bIns="0" rtlCol="0" anchor="ctr"/>
          <a:lstStyle/>
          <a:p>
            <a:pPr marL="0" indent="0" algn="ctr">
              <a:buNone/>
            </a:pPr>
            <a:r>
              <a:rPr lang="en-US" sz="900" dirty="0">
                <a:solidFill>
                  <a:srgbClr val="FF6E28"/>
                </a:solidFill>
                <a:latin typeface="Courier New" pitchFamily="34" charset="0"/>
                <a:ea typeface="Courier New" pitchFamily="34" charset="-122"/>
                <a:cs typeface="Courier New" pitchFamily="34" charset="-120"/>
              </a:rPr>
              <a:t>verified here</a:t>
            </a:r>
            <a:endParaRPr lang="en-US" sz="900" dirty="0"/>
          </a:p>
        </p:txBody>
      </p:sp>
      <p:sp>
        <p:nvSpPr>
          <p:cNvPr id="14" name="Shape 10"/>
          <p:cNvSpPr/>
          <p:nvPr/>
        </p:nvSpPr>
        <p:spPr>
          <a:xfrm>
            <a:off x="5102352" y="2103120"/>
            <a:ext cx="1956816" cy="2286000"/>
          </a:xfrm>
          <a:prstGeom prst="roundRect">
            <a:avLst>
              <a:gd name="adj" fmla="val 5607"/>
            </a:avLst>
          </a:prstGeom>
          <a:solidFill>
            <a:srgbClr val="140B12"/>
          </a:solidFill>
          <a:ln w="12700">
            <a:solidFill>
              <a:srgbClr val="2A1E27"/>
            </a:solidFill>
            <a:prstDash val="solid"/>
          </a:ln>
        </p:spPr>
        <p:txBody>
          <a:bodyPr/>
          <a:lstStyle/>
          <a:p>
            <a:endParaRPr lang="en-US"/>
          </a:p>
        </p:txBody>
      </p:sp>
      <p:pic>
        <p:nvPicPr>
          <p:cNvPr id="15" name="Image 2" descr="/private/tmp/claude-501/-Users-brwbo/af21f834-8748-4b21-a72f-e5d01be37e45/scratchpad/logos/openai_dark.png"/>
          <p:cNvPicPr>
            <a:picLocks noChangeAspect="1"/>
          </p:cNvPicPr>
          <p:nvPr/>
        </p:nvPicPr>
        <p:blipFill>
          <a:blip r:embed="rId4"/>
          <a:srcRect/>
          <a:stretch/>
        </p:blipFill>
        <p:spPr>
          <a:xfrm>
            <a:off x="5852160" y="2395728"/>
            <a:ext cx="457200" cy="457200"/>
          </a:xfrm>
          <a:prstGeom prst="rect">
            <a:avLst/>
          </a:prstGeom>
        </p:spPr>
      </p:pic>
      <p:sp>
        <p:nvSpPr>
          <p:cNvPr id="16" name="Text 11"/>
          <p:cNvSpPr/>
          <p:nvPr/>
        </p:nvSpPr>
        <p:spPr>
          <a:xfrm>
            <a:off x="5230368" y="3035808"/>
            <a:ext cx="1700784" cy="32004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Codex CLI</a:t>
            </a:r>
            <a:endParaRPr lang="en-US" sz="1400" dirty="0"/>
          </a:p>
        </p:txBody>
      </p:sp>
      <p:sp>
        <p:nvSpPr>
          <p:cNvPr id="17" name="Text 12"/>
          <p:cNvSpPr/>
          <p:nvPr/>
        </p:nvSpPr>
        <p:spPr>
          <a:xfrm>
            <a:off x="5230368" y="3401568"/>
            <a:ext cx="1700784" cy="548640"/>
          </a:xfrm>
          <a:prstGeom prst="rect">
            <a:avLst/>
          </a:prstGeom>
          <a:noFill/>
          <a:ln/>
        </p:spPr>
        <p:txBody>
          <a:bodyPr wrap="square" lIns="0" tIns="0" rIns="0" bIns="0" rtlCol="0" anchor="ctr"/>
          <a:lstStyle/>
          <a:p>
            <a:pPr marL="0" indent="0" algn="ctr">
              <a:lnSpc>
                <a:spcPts val="1300"/>
              </a:lnSpc>
              <a:buNone/>
            </a:pPr>
            <a:r>
              <a:rPr lang="en-US" sz="900" dirty="0">
                <a:solidFill>
                  <a:srgbClr val="6E646D"/>
                </a:solidFill>
                <a:latin typeface="Courier New" pitchFamily="34" charset="0"/>
                <a:ea typeface="Courier New" pitchFamily="34" charset="-122"/>
                <a:cs typeface="Courier New" pitchFamily="34" charset="-120"/>
              </a:rPr>
              <a:t>~/.codex/config.toml</a:t>
            </a:r>
            <a:endParaRPr lang="en-US" sz="900" dirty="0"/>
          </a:p>
        </p:txBody>
      </p:sp>
      <p:sp>
        <p:nvSpPr>
          <p:cNvPr id="18" name="Text 13"/>
          <p:cNvSpPr/>
          <p:nvPr/>
        </p:nvSpPr>
        <p:spPr>
          <a:xfrm>
            <a:off x="5230368" y="4023360"/>
            <a:ext cx="1700784" cy="274320"/>
          </a:xfrm>
          <a:prstGeom prst="rect">
            <a:avLst/>
          </a:prstGeom>
          <a:noFill/>
          <a:ln/>
        </p:spPr>
        <p:txBody>
          <a:bodyPr wrap="square" lIns="0" tIns="0" rIns="0" bIns="0" rtlCol="0" anchor="ctr"/>
          <a:lstStyle/>
          <a:p>
            <a:pPr marL="0" indent="0" algn="ctr">
              <a:buNone/>
            </a:pPr>
            <a:r>
              <a:rPr lang="en-US" sz="900" dirty="0">
                <a:solidFill>
                  <a:srgbClr val="5C525B"/>
                </a:solidFill>
                <a:latin typeface="Courier New" pitchFamily="34" charset="0"/>
                <a:ea typeface="Courier New" pitchFamily="34" charset="-122"/>
                <a:cs typeface="Courier New" pitchFamily="34" charset="-120"/>
              </a:rPr>
              <a:t>per its docs</a:t>
            </a:r>
            <a:endParaRPr lang="en-US" sz="900" dirty="0"/>
          </a:p>
        </p:txBody>
      </p:sp>
      <p:sp>
        <p:nvSpPr>
          <p:cNvPr id="19" name="Shape 14"/>
          <p:cNvSpPr/>
          <p:nvPr/>
        </p:nvSpPr>
        <p:spPr>
          <a:xfrm>
            <a:off x="7242048" y="2103120"/>
            <a:ext cx="1956816" cy="2286000"/>
          </a:xfrm>
          <a:prstGeom prst="roundRect">
            <a:avLst>
              <a:gd name="adj" fmla="val 5607"/>
            </a:avLst>
          </a:prstGeom>
          <a:solidFill>
            <a:srgbClr val="140B12"/>
          </a:solidFill>
          <a:ln w="12700">
            <a:solidFill>
              <a:srgbClr val="2A1E27"/>
            </a:solidFill>
            <a:prstDash val="solid"/>
          </a:ln>
        </p:spPr>
        <p:txBody>
          <a:bodyPr/>
          <a:lstStyle/>
          <a:p>
            <a:endParaRPr lang="en-US"/>
          </a:p>
        </p:txBody>
      </p:sp>
      <p:pic>
        <p:nvPicPr>
          <p:cNvPr id="20" name="Image 3" descr="/private/tmp/claude-501/-Users-brwbo/af21f834-8748-4b21-a72f-e5d01be37e45/scratchpad/logos/cursor_dark.png"/>
          <p:cNvPicPr>
            <a:picLocks noChangeAspect="1"/>
          </p:cNvPicPr>
          <p:nvPr/>
        </p:nvPicPr>
        <p:blipFill>
          <a:blip r:embed="rId5"/>
          <a:srcRect/>
          <a:stretch/>
        </p:blipFill>
        <p:spPr>
          <a:xfrm>
            <a:off x="7991856" y="2395728"/>
            <a:ext cx="457200" cy="457200"/>
          </a:xfrm>
          <a:prstGeom prst="rect">
            <a:avLst/>
          </a:prstGeom>
        </p:spPr>
      </p:pic>
      <p:sp>
        <p:nvSpPr>
          <p:cNvPr id="21" name="Text 15"/>
          <p:cNvSpPr/>
          <p:nvPr/>
        </p:nvSpPr>
        <p:spPr>
          <a:xfrm>
            <a:off x="7370064" y="3035808"/>
            <a:ext cx="1700784" cy="32004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Cursor</a:t>
            </a:r>
            <a:endParaRPr lang="en-US" sz="1400" dirty="0"/>
          </a:p>
        </p:txBody>
      </p:sp>
      <p:sp>
        <p:nvSpPr>
          <p:cNvPr id="22" name="Text 16"/>
          <p:cNvSpPr/>
          <p:nvPr/>
        </p:nvSpPr>
        <p:spPr>
          <a:xfrm>
            <a:off x="7370064" y="3401568"/>
            <a:ext cx="1700784" cy="548640"/>
          </a:xfrm>
          <a:prstGeom prst="rect">
            <a:avLst/>
          </a:prstGeom>
          <a:noFill/>
          <a:ln/>
        </p:spPr>
        <p:txBody>
          <a:bodyPr wrap="square" lIns="0" tIns="0" rIns="0" bIns="0" rtlCol="0" anchor="ctr"/>
          <a:lstStyle/>
          <a:p>
            <a:pPr marL="0" indent="0" algn="ctr">
              <a:lnSpc>
                <a:spcPts val="1300"/>
              </a:lnSpc>
              <a:buNone/>
            </a:pPr>
            <a:r>
              <a:rPr lang="en-US" sz="900" dirty="0">
                <a:solidFill>
                  <a:srgbClr val="6E646D"/>
                </a:solidFill>
                <a:latin typeface="Courier New" pitchFamily="34" charset="0"/>
                <a:ea typeface="Courier New" pitchFamily="34" charset="-122"/>
                <a:cs typeface="Courier New" pitchFamily="34" charset="-120"/>
              </a:rPr>
              <a:t>~/.cursor/mcp.json</a:t>
            </a:r>
            <a:endParaRPr lang="en-US" sz="900" dirty="0"/>
          </a:p>
        </p:txBody>
      </p:sp>
      <p:sp>
        <p:nvSpPr>
          <p:cNvPr id="23" name="Text 17"/>
          <p:cNvSpPr/>
          <p:nvPr/>
        </p:nvSpPr>
        <p:spPr>
          <a:xfrm>
            <a:off x="7370064" y="4023360"/>
            <a:ext cx="1700784" cy="274320"/>
          </a:xfrm>
          <a:prstGeom prst="rect">
            <a:avLst/>
          </a:prstGeom>
          <a:noFill/>
          <a:ln/>
        </p:spPr>
        <p:txBody>
          <a:bodyPr wrap="square" lIns="0" tIns="0" rIns="0" bIns="0" rtlCol="0" anchor="ctr"/>
          <a:lstStyle/>
          <a:p>
            <a:pPr marL="0" indent="0" algn="ctr">
              <a:buNone/>
            </a:pPr>
            <a:r>
              <a:rPr lang="en-US" sz="900" dirty="0">
                <a:solidFill>
                  <a:srgbClr val="5C525B"/>
                </a:solidFill>
                <a:latin typeface="Courier New" pitchFamily="34" charset="0"/>
                <a:ea typeface="Courier New" pitchFamily="34" charset="-122"/>
                <a:cs typeface="Courier New" pitchFamily="34" charset="-120"/>
              </a:rPr>
              <a:t>per its docs</a:t>
            </a:r>
            <a:endParaRPr lang="en-US" sz="900" dirty="0"/>
          </a:p>
        </p:txBody>
      </p:sp>
      <p:sp>
        <p:nvSpPr>
          <p:cNvPr id="24" name="Shape 18"/>
          <p:cNvSpPr/>
          <p:nvPr/>
        </p:nvSpPr>
        <p:spPr>
          <a:xfrm>
            <a:off x="9381744" y="2103120"/>
            <a:ext cx="1956816" cy="2286000"/>
          </a:xfrm>
          <a:prstGeom prst="roundRect">
            <a:avLst>
              <a:gd name="adj" fmla="val 5607"/>
            </a:avLst>
          </a:prstGeom>
          <a:solidFill>
            <a:srgbClr val="140B12"/>
          </a:solidFill>
          <a:ln w="12700">
            <a:solidFill>
              <a:srgbClr val="2A1E27"/>
            </a:solidFill>
            <a:prstDash val="solid"/>
          </a:ln>
        </p:spPr>
        <p:txBody>
          <a:bodyPr/>
          <a:lstStyle/>
          <a:p>
            <a:endParaRPr lang="en-US"/>
          </a:p>
        </p:txBody>
      </p:sp>
      <p:pic>
        <p:nvPicPr>
          <p:cNvPr id="25" name="Image 4" descr="/private/tmp/claude-501/-Users-brwbo/af21f834-8748-4b21-a72f-e5d01be37e45/scratchpad/logos/vscode.png"/>
          <p:cNvPicPr>
            <a:picLocks noChangeAspect="1"/>
          </p:cNvPicPr>
          <p:nvPr/>
        </p:nvPicPr>
        <p:blipFill>
          <a:blip r:embed="rId6"/>
          <a:srcRect/>
          <a:stretch/>
        </p:blipFill>
        <p:spPr>
          <a:xfrm>
            <a:off x="10131552" y="2395728"/>
            <a:ext cx="457200" cy="457200"/>
          </a:xfrm>
          <a:prstGeom prst="rect">
            <a:avLst/>
          </a:prstGeom>
        </p:spPr>
      </p:pic>
      <p:sp>
        <p:nvSpPr>
          <p:cNvPr id="26" name="Text 19"/>
          <p:cNvSpPr/>
          <p:nvPr/>
        </p:nvSpPr>
        <p:spPr>
          <a:xfrm>
            <a:off x="9509760" y="3035808"/>
            <a:ext cx="1700784" cy="32004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VS Code</a:t>
            </a:r>
            <a:endParaRPr lang="en-US" sz="1400" dirty="0"/>
          </a:p>
        </p:txBody>
      </p:sp>
      <p:sp>
        <p:nvSpPr>
          <p:cNvPr id="27" name="Text 20"/>
          <p:cNvSpPr/>
          <p:nvPr/>
        </p:nvSpPr>
        <p:spPr>
          <a:xfrm>
            <a:off x="9509760" y="3401568"/>
            <a:ext cx="1700784" cy="548640"/>
          </a:xfrm>
          <a:prstGeom prst="rect">
            <a:avLst/>
          </a:prstGeom>
          <a:noFill/>
          <a:ln/>
        </p:spPr>
        <p:txBody>
          <a:bodyPr wrap="square" lIns="0" tIns="0" rIns="0" bIns="0" rtlCol="0" anchor="ctr"/>
          <a:lstStyle/>
          <a:p>
            <a:pPr marL="0" indent="0" algn="ctr">
              <a:lnSpc>
                <a:spcPts val="1300"/>
              </a:lnSpc>
              <a:buNone/>
            </a:pPr>
            <a:r>
              <a:rPr lang="en-US" sz="900" dirty="0">
                <a:solidFill>
                  <a:srgbClr val="6E646D"/>
                </a:solidFill>
                <a:latin typeface="Courier New" pitchFamily="34" charset="0"/>
                <a:ea typeface="Courier New" pitchFamily="34" charset="-122"/>
                <a:cs typeface="Courier New" pitchFamily="34" charset="-120"/>
              </a:rPr>
              <a:t>.vscode/mcp.json</a:t>
            </a:r>
            <a:endParaRPr lang="en-US" sz="900" dirty="0"/>
          </a:p>
        </p:txBody>
      </p:sp>
      <p:sp>
        <p:nvSpPr>
          <p:cNvPr id="28" name="Text 21"/>
          <p:cNvSpPr/>
          <p:nvPr/>
        </p:nvSpPr>
        <p:spPr>
          <a:xfrm>
            <a:off x="9509760" y="4023360"/>
            <a:ext cx="1700784" cy="274320"/>
          </a:xfrm>
          <a:prstGeom prst="rect">
            <a:avLst/>
          </a:prstGeom>
          <a:noFill/>
          <a:ln/>
        </p:spPr>
        <p:txBody>
          <a:bodyPr wrap="square" lIns="0" tIns="0" rIns="0" bIns="0" rtlCol="0" anchor="ctr"/>
          <a:lstStyle/>
          <a:p>
            <a:pPr marL="0" indent="0" algn="ctr">
              <a:buNone/>
            </a:pPr>
            <a:r>
              <a:rPr lang="en-US" sz="900" dirty="0">
                <a:solidFill>
                  <a:srgbClr val="5C525B"/>
                </a:solidFill>
                <a:latin typeface="Courier New" pitchFamily="34" charset="0"/>
                <a:ea typeface="Courier New" pitchFamily="34" charset="-122"/>
                <a:cs typeface="Courier New" pitchFamily="34" charset="-120"/>
              </a:rPr>
              <a:t>per its docs</a:t>
            </a:r>
            <a:endParaRPr lang="en-US" sz="900" dirty="0"/>
          </a:p>
        </p:txBody>
      </p:sp>
      <p:sp>
        <p:nvSpPr>
          <p:cNvPr id="29" name="Text 22"/>
          <p:cNvSpPr/>
          <p:nvPr/>
        </p:nvSpPr>
        <p:spPr>
          <a:xfrm>
            <a:off x="822960" y="4846320"/>
            <a:ext cx="10515600" cy="457200"/>
          </a:xfrm>
          <a:prstGeom prst="rect">
            <a:avLst/>
          </a:prstGeom>
          <a:noFill/>
          <a:ln/>
        </p:spPr>
        <p:txBody>
          <a:bodyPr wrap="square" lIns="0" tIns="0" rIns="0" bIns="0" rtlCol="0" anchor="ctr"/>
          <a:lstStyle/>
          <a:p>
            <a:pPr marL="0" indent="0">
              <a:buNone/>
            </a:pPr>
            <a:r>
              <a:rPr lang="en-US" sz="1600" dirty="0">
                <a:solidFill>
                  <a:srgbClr val="D8CFD6"/>
                </a:solidFill>
                <a:latin typeface="Courier New" pitchFamily="34" charset="0"/>
                <a:ea typeface="Courier New" pitchFamily="34" charset="-122"/>
                <a:cs typeface="Courier New" pitchFamily="34" charset="-120"/>
              </a:rPr>
              <a:t>claude mcp add apic -- node ./generated/deliveroo/server.js</a:t>
            </a:r>
            <a:endParaRPr lang="en-US" sz="1600" dirty="0"/>
          </a:p>
        </p:txBody>
      </p:sp>
      <p:sp>
        <p:nvSpPr>
          <p:cNvPr id="30" name="Text 23"/>
          <p:cNvSpPr/>
          <p:nvPr/>
        </p:nvSpPr>
        <p:spPr>
          <a:xfrm>
            <a:off x="822960" y="5577840"/>
            <a:ext cx="10515600" cy="548640"/>
          </a:xfrm>
          <a:prstGeom prst="rect">
            <a:avLst/>
          </a:prstGeom>
          <a:noFill/>
          <a:ln/>
        </p:spPr>
        <p:txBody>
          <a:bodyPr wrap="square" lIns="0" tIns="0" rIns="0" bIns="0" rtlCol="0" anchor="ctr"/>
          <a:lstStyle/>
          <a:p>
            <a:pPr marL="0" indent="0">
              <a:lnSpc>
                <a:spcPts val="1900"/>
              </a:lnSpc>
              <a:buNone/>
            </a:pPr>
            <a:r>
              <a:rPr lang="en-US" sz="1300" dirty="0">
                <a:solidFill>
                  <a:srgbClr val="6E646D"/>
                </a:solidFill>
                <a:latin typeface="Calibri" pitchFamily="34" charset="0"/>
                <a:ea typeface="Calibri" pitchFamily="34" charset="-122"/>
                <a:cs typeface="Calibri" pitchFamily="34" charset="-120"/>
              </a:rPr>
              <a:t>Two of the five are verified on this machine; the rest follow each client’s own documented MCP config. The generated bundle is committed to the repo — machine-written code, machine-verified, with agent-written tests.</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0A0509"/>
        </a:solidFill>
        <a:effectLst/>
      </p:bgPr>
    </p:bg>
    <p:spTree>
      <p:nvGrpSpPr>
        <p:cNvPr id="1" name=""/>
        <p:cNvGrpSpPr/>
        <p:nvPr/>
      </p:nvGrpSpPr>
      <p:grpSpPr>
        <a:xfrm>
          <a:off x="0" y="0"/>
          <a:ext cx="0" cy="0"/>
          <a:chOff x="0" y="0"/>
          <a:chExt cx="0" cy="0"/>
        </a:xfrm>
      </p:grpSpPr>
      <p:sp>
        <p:nvSpPr>
          <p:cNvPr id="2" name="Text 0"/>
          <p:cNvSpPr/>
          <p:nvPr/>
        </p:nvSpPr>
        <p:spPr>
          <a:xfrm>
            <a:off x="822960" y="502920"/>
            <a:ext cx="10515600" cy="594360"/>
          </a:xfrm>
          <a:prstGeom prst="rect">
            <a:avLst/>
          </a:prstGeom>
          <a:noFill/>
          <a:ln/>
        </p:spPr>
        <p:txBody>
          <a:bodyPr wrap="square" lIns="0" tIns="0" rIns="0" bIns="0" rtlCol="0" anchor="ctr"/>
          <a:lstStyle/>
          <a:p>
            <a:pPr marL="0" indent="0">
              <a:buNone/>
            </a:pPr>
            <a:r>
              <a:rPr lang="en-US" sz="3400" b="1" kern="0" spc="-100" dirty="0">
                <a:solidFill>
                  <a:srgbClr val="FFFFFF"/>
                </a:solidFill>
                <a:latin typeface="Arial" pitchFamily="34" charset="0"/>
                <a:ea typeface="Arial" pitchFamily="34" charset="-122"/>
                <a:cs typeface="Arial" pitchFamily="34" charset="-120"/>
              </a:rPr>
              <a:t>Watch it happen.</a:t>
            </a:r>
            <a:endParaRPr lang="en-US" sz="3400" dirty="0"/>
          </a:p>
        </p:txBody>
      </p:sp>
      <p:sp>
        <p:nvSpPr>
          <p:cNvPr id="3" name="Shape 1"/>
          <p:cNvSpPr/>
          <p:nvPr/>
        </p:nvSpPr>
        <p:spPr>
          <a:xfrm>
            <a:off x="1892808" y="1234440"/>
            <a:ext cx="8412480" cy="4732020"/>
          </a:xfrm>
          <a:prstGeom prst="roundRect">
            <a:avLst>
              <a:gd name="adj" fmla="val 2705"/>
            </a:avLst>
          </a:prstGeom>
          <a:solidFill>
            <a:srgbClr val="140B12"/>
          </a:solidFill>
          <a:ln w="12700">
            <a:solidFill>
              <a:srgbClr val="2A1E27"/>
            </a:solidFill>
            <a:prstDash val="solid"/>
          </a:ln>
        </p:spPr>
        <p:txBody>
          <a:bodyPr/>
          <a:lstStyle/>
          <a:p>
            <a:endParaRPr lang="en-US"/>
          </a:p>
        </p:txBody>
      </p:sp>
      <p:sp>
        <p:nvSpPr>
          <p:cNvPr id="4" name="Shape 2"/>
          <p:cNvSpPr/>
          <p:nvPr/>
        </p:nvSpPr>
        <p:spPr>
          <a:xfrm>
            <a:off x="5742432" y="3246120"/>
            <a:ext cx="713232" cy="713232"/>
          </a:xfrm>
          <a:prstGeom prst="ellipse">
            <a:avLst/>
          </a:prstGeom>
          <a:solidFill>
            <a:srgbClr val="FF6E28"/>
          </a:solidFill>
          <a:ln/>
        </p:spPr>
        <p:txBody>
          <a:bodyPr/>
          <a:lstStyle/>
          <a:p>
            <a:endParaRPr lang="en-US"/>
          </a:p>
        </p:txBody>
      </p:sp>
      <p:sp>
        <p:nvSpPr>
          <p:cNvPr id="5" name="Text 3"/>
          <p:cNvSpPr/>
          <p:nvPr/>
        </p:nvSpPr>
        <p:spPr>
          <a:xfrm>
            <a:off x="5742432" y="3246120"/>
            <a:ext cx="713232" cy="713232"/>
          </a:xfrm>
          <a:prstGeom prst="rect">
            <a:avLst/>
          </a:prstGeom>
          <a:noFill/>
          <a:ln/>
        </p:spPr>
        <p:txBody>
          <a:bodyPr wrap="square" lIns="0" tIns="0" rIns="0" bIns="0" rtlCol="0" anchor="ctr"/>
          <a:lstStyle/>
          <a:p>
            <a:pPr marL="0" indent="0" algn="ctr">
              <a:buNone/>
            </a:pPr>
            <a:r>
              <a:rPr lang="en-US" sz="2200" dirty="0">
                <a:solidFill>
                  <a:srgbClr val="0A0509"/>
                </a:solidFill>
                <a:latin typeface="Arial" pitchFamily="34" charset="0"/>
                <a:ea typeface="Arial" pitchFamily="34" charset="-122"/>
                <a:cs typeface="Arial" pitchFamily="34" charset="-120"/>
              </a:rPr>
              <a:t>▶</a:t>
            </a:r>
            <a:endParaRPr lang="en-US" sz="2200" dirty="0"/>
          </a:p>
        </p:txBody>
      </p:sp>
      <p:sp>
        <p:nvSpPr>
          <p:cNvPr id="6" name="Text 4"/>
          <p:cNvSpPr/>
          <p:nvPr/>
        </p:nvSpPr>
        <p:spPr>
          <a:xfrm>
            <a:off x="1892808" y="4206240"/>
            <a:ext cx="8412480" cy="365760"/>
          </a:xfrm>
          <a:prstGeom prst="rect">
            <a:avLst/>
          </a:prstGeom>
          <a:noFill/>
          <a:ln/>
        </p:spPr>
        <p:txBody>
          <a:bodyPr wrap="square" lIns="0" tIns="0" rIns="0" bIns="0" rtlCol="0" anchor="ctr"/>
          <a:lstStyle/>
          <a:p>
            <a:pPr marL="0" indent="0" algn="ctr">
              <a:buNone/>
            </a:pPr>
            <a:r>
              <a:rPr lang="en-US" sz="1100" dirty="0">
                <a:solidFill>
                  <a:srgbClr val="6E646D"/>
                </a:solidFill>
                <a:latin typeface="Courier New" pitchFamily="34" charset="0"/>
                <a:ea typeface="Courier New" pitchFamily="34" charset="-122"/>
                <a:cs typeface="Courier New" pitchFamily="34" charset="-120"/>
              </a:rPr>
              <a:t>16:9 video slot — Insert › Video › This Device, then delete this shape and the play button</a:t>
            </a:r>
            <a:endParaRPr lang="en-US" sz="1100" dirty="0"/>
          </a:p>
        </p:txBody>
      </p:sp>
      <p:sp>
        <p:nvSpPr>
          <p:cNvPr id="7" name="Text 5"/>
          <p:cNvSpPr/>
          <p:nvPr/>
        </p:nvSpPr>
        <p:spPr>
          <a:xfrm>
            <a:off x="1892808" y="6080760"/>
            <a:ext cx="8412480" cy="320040"/>
          </a:xfrm>
          <a:prstGeom prst="rect">
            <a:avLst/>
          </a:prstGeom>
          <a:noFill/>
          <a:ln/>
        </p:spPr>
        <p:txBody>
          <a:bodyPr wrap="square" lIns="0" tIns="0" rIns="0" bIns="0" rtlCol="0" anchor="ctr"/>
          <a:lstStyle/>
          <a:p>
            <a:pPr marL="0" indent="0" algn="ctr">
              <a:buNone/>
            </a:pPr>
            <a:r>
              <a:rPr lang="en-US" sz="1400" dirty="0">
                <a:solidFill>
                  <a:srgbClr val="9B909A"/>
                </a:solidFill>
                <a:latin typeface="Calibri" pitchFamily="34" charset="0"/>
                <a:ea typeface="Calibri" pitchFamily="34" charset="-122"/>
                <a:cs typeface="Calibri" pitchFamily="34" charset="-120"/>
              </a:rPr>
              <a:t>Me typing one sentence into Claude. No terminal, no dashboard.</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2291</Words>
  <Application>Microsoft Macintosh PowerPoint</Application>
  <PresentationFormat>Widescreen</PresentationFormat>
  <Paragraphs>115</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apic</dc:title>
  <dc:subject>PptxGenJS Presentation</dc:subject>
  <dc:creator>Ben Rowbotham</dc:creator>
  <cp:lastModifiedBy>Ben Rowbotham</cp:lastModifiedBy>
  <cp:revision>2</cp:revision>
  <dcterms:created xsi:type="dcterms:W3CDTF">2026-08-22T16:12:36Z</dcterms:created>
  <dcterms:modified xsi:type="dcterms:W3CDTF">2026-08-22T16:14:28Z</dcterms:modified>
</cp:coreProperties>
</file>